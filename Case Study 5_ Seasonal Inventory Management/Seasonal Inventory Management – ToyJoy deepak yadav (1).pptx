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5.xml"/>
  <Override ContentType="application/vnd.ms-office.chartcolorstyle+xml" PartName="/ppt/charts/colors4.xml"/>
  <Override ContentType="application/vnd.ms-office.chartcolorstyle+xml" PartName="/ppt/charts/colors1.xml"/>
  <Override ContentType="application/vnd.ms-office.chartcolorstyle+xml" PartName="/ppt/charts/colors2.xml"/>
  <Override ContentType="application/vnd.ms-office.chartcolorstyle+xml" PartName="/ppt/charts/colors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3.xml"/>
  <Override ContentType="application/vnd.ms-office.chartstyle+xml" PartName="/ppt/charts/style4.xml"/>
  <Override ContentType="application/vnd.ms-office.chartstyle+xml" PartName="/ppt/charts/style5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Libre Franklin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eMyK7wG5MsVfvfgu4iK/FjlAv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ibreFranklin-bold.fntdata"/><Relationship Id="rId14" Type="http://schemas.openxmlformats.org/officeDocument/2006/relationships/font" Target="fonts/LibreFranklin-regular.fntdata"/><Relationship Id="rId17" Type="http://schemas.openxmlformats.org/officeDocument/2006/relationships/font" Target="fonts/LibreFranklin-boldItalic.fntdata"/><Relationship Id="rId16" Type="http://schemas.openxmlformats.org/officeDocument/2006/relationships/font" Target="fonts/LibreFranklin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https://d.docs.live.net/39e242b75272e33c/Documents/toyjoy_inventory.csv.xlsx" TargetMode="External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https://d.docs.live.net/39e242b75272e33c/Documents/toyjoy_inventory.csv.xlsx" TargetMode="External"/></Relationships>
</file>

<file path=ppt/charts/_rels/chart3.xml.rels><?xml version="1.0" encoding="UTF-8" standalone="yes"?>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https://d.docs.live.net/39e242b75272e33c/Documents/toyjoy_inventory.csv.xlsx" TargetMode="External"/></Relationships>
</file>

<file path=ppt/charts/_rels/chart4.xml.rels><?xml version="1.0" encoding="UTF-8" standalone="yes"?>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oleObject" Target="https://d.docs.live.net/39e242b75272e33c/Documents/toyjoy_inventory.csv.xlsx" TargetMode="External"/></Relationships>
</file>

<file path=ppt/charts/_rels/chart5.xml.rels><?xml version="1.0" encoding="UTF-8" standalone="yes"?>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oleObject" Target="https://d.docs.live.net/39e242b75272e33c/Documents/toyjoy_inventory.csv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[toyjoy_inventory.csv.xlsx]Top 5 Products by Units Sold!PivotTable5</c:name>
    <c:fmtId val="3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'Top 5 Products by Units Sold'!$B$3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'Top 5 Products by Units Sold'!$A$4:$A$8</c:f>
              <c:strCache>
                <c:ptCount val="5"/>
                <c:pt idx="0">
                  <c:v>Action Robot</c:v>
                </c:pt>
                <c:pt idx="1">
                  <c:v>Kids Drum Set</c:v>
                </c:pt>
                <c:pt idx="2">
                  <c:v>Board Game Master</c:v>
                </c:pt>
                <c:pt idx="3">
                  <c:v>Doll House Mini</c:v>
                </c:pt>
                <c:pt idx="4">
                  <c:v>Drawing Art Pad</c:v>
                </c:pt>
              </c:strCache>
            </c:strRef>
          </c:cat>
          <c:val>
            <c:numRef>
              <c:f>'Top 5 Products by Units Sold'!$B$4:$B$8</c:f>
              <c:numCache>
                <c:formatCode>General</c:formatCode>
                <c:ptCount val="5"/>
                <c:pt idx="0">
                  <c:v>11768</c:v>
                </c:pt>
                <c:pt idx="1">
                  <c:v>11160</c:v>
                </c:pt>
                <c:pt idx="2">
                  <c:v>9792</c:v>
                </c:pt>
                <c:pt idx="3">
                  <c:v>9508</c:v>
                </c:pt>
                <c:pt idx="4">
                  <c:v>9253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BE-4F6A-BFE2-F1A4B6255D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4812800"/>
        <c:axId val="34786880"/>
      </c:barChart>
      <c:catAx>
        <c:axId val="34812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86880"/>
        <c:crosses val="autoZero"/>
        <c:auto val="1"/>
        <c:lblAlgn val="ctr"/>
        <c:lblOffset val="100"/>
        <c:noMultiLvlLbl val="0"/>
      </c:catAx>
      <c:valAx>
        <c:axId val="34786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812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[toyjoy_inventory.csv.xlsx]Category-wise Sales &amp; Profit!PivotTable1</c:name>
    <c:fmtId val="3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'Category-wise Sales &amp; Profit'!$B$3</c:f>
              <c:strCache>
                <c:ptCount val="1"/>
                <c:pt idx="0">
                  <c:v>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'Category-wise Sales &amp; Profit'!$A$4:$A$7</c:f>
              <c:strCache>
                <c:ptCount val="4"/>
                <c:pt idx="0">
                  <c:v>Action Figures</c:v>
                </c:pt>
                <c:pt idx="1">
                  <c:v>Board Games</c:v>
                </c:pt>
                <c:pt idx="2">
                  <c:v>Dolls</c:v>
                </c:pt>
                <c:pt idx="3">
                  <c:v>Puzzles</c:v>
                </c:pt>
              </c:strCache>
            </c:strRef>
          </c:cat>
          <c:val>
            <c:numRef>
              <c:f>'Category-wise Sales &amp; Profit'!$B$4:$B$7</c:f>
              <c:numCache>
                <c:formatCode>General</c:formatCode>
                <c:ptCount val="4"/>
                <c:pt idx="0">
                  <c:v>11926569.679999994</c:v>
                </c:pt>
                <c:pt idx="1">
                  <c:v>11962088.750000004</c:v>
                </c:pt>
                <c:pt idx="2">
                  <c:v>10066219.050000003</c:v>
                </c:pt>
                <c:pt idx="3">
                  <c:v>12982720.789999994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0E-4240-9C47-C38BF7ECC591}"/>
            </c:ext>
          </c:extLst>
        </c:ser>
        <c:ser>
          <c:idx val="1"/>
          <c:order val="1"/>
          <c:tx>
            <c:strRef>
              <c:f>'Category-wise Sales &amp; Profit'!$C$3</c:f>
              <c:strCache>
                <c:ptCount val="1"/>
                <c:pt idx="0">
                  <c:v> 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'Category-wise Sales &amp; Profit'!$A$4:$A$7</c:f>
              <c:strCache>
                <c:ptCount val="4"/>
                <c:pt idx="0">
                  <c:v>Action Figures</c:v>
                </c:pt>
                <c:pt idx="1">
                  <c:v>Board Games</c:v>
                </c:pt>
                <c:pt idx="2">
                  <c:v>Dolls</c:v>
                </c:pt>
                <c:pt idx="3">
                  <c:v>Puzzles</c:v>
                </c:pt>
              </c:strCache>
            </c:strRef>
          </c:cat>
          <c:val>
            <c:numRef>
              <c:f>'Category-wise Sales &amp; Profit'!$C$4:$C$7</c:f>
              <c:numCache>
                <c:formatCode>General</c:formatCode>
                <c:ptCount val="4"/>
                <c:pt idx="0">
                  <c:v>4611747.1600000011</c:v>
                </c:pt>
                <c:pt idx="1">
                  <c:v>4451643.8299999963</c:v>
                </c:pt>
                <c:pt idx="2">
                  <c:v>4476717.1000000015</c:v>
                </c:pt>
                <c:pt idx="3">
                  <c:v>5711829.7600000007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0E-4240-9C47-C38BF7ECC5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4752320"/>
        <c:axId val="34750400"/>
      </c:barChart>
      <c:catAx>
        <c:axId val="34752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50400"/>
        <c:crosses val="autoZero"/>
        <c:auto val="1"/>
        <c:lblAlgn val="ctr"/>
        <c:lblOffset val="100"/>
        <c:noMultiLvlLbl val="0"/>
      </c:catAx>
      <c:valAx>
        <c:axId val="34750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5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[toyjoy_inventory.csv.xlsx]Seasonal Demand!PivotTable2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'Seasonal Demand'!$B$3</c:f>
              <c:strCache>
                <c:ptCount val="1"/>
                <c:pt idx="0">
                  <c:v> UnitsSold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'Seasonal Demand'!$A$4:$A$8</c:f>
              <c:strCache>
                <c:ptCount val="5"/>
                <c:pt idx="0">
                  <c:v>Festival</c:v>
                </c:pt>
                <c:pt idx="1">
                  <c:v>Holiday</c:v>
                </c:pt>
                <c:pt idx="2">
                  <c:v>Regular</c:v>
                </c:pt>
                <c:pt idx="3">
                  <c:v>Summer</c:v>
                </c:pt>
                <c:pt idx="4">
                  <c:v>Winter</c:v>
                </c:pt>
              </c:strCache>
            </c:strRef>
          </c:cat>
          <c:val>
            <c:numRef>
              <c:f>'Seasonal Demand'!$B$4:$B$8</c:f>
              <c:numCache>
                <c:formatCode>General</c:formatCode>
                <c:ptCount val="5"/>
                <c:pt idx="0">
                  <c:v>18900</c:v>
                </c:pt>
                <c:pt idx="1">
                  <c:v>24252</c:v>
                </c:pt>
                <c:pt idx="2">
                  <c:v>20148</c:v>
                </c:pt>
                <c:pt idx="3">
                  <c:v>18996</c:v>
                </c:pt>
                <c:pt idx="4">
                  <c:v>20129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78-47D5-9CED-D7287340DB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4771520"/>
        <c:axId val="34776320"/>
      </c:barChart>
      <c:lineChart>
        <c:grouping val="standard"/>
        <c:varyColors val="0"/>
        <c:ser>
          <c:idx val="1"/>
          <c:order val="1"/>
          <c:tx>
            <c:strRef>
              <c:f>'Seasonal Demand'!$C$3</c:f>
              <c:strCache>
                <c:ptCount val="1"/>
                <c:pt idx="0">
                  <c:v>Revenue 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'Seasonal Demand'!$A$4:$A$8</c:f>
              <c:strCache>
                <c:ptCount val="5"/>
                <c:pt idx="0">
                  <c:v>Festival</c:v>
                </c:pt>
                <c:pt idx="1">
                  <c:v>Holiday</c:v>
                </c:pt>
                <c:pt idx="2">
                  <c:v>Regular</c:v>
                </c:pt>
                <c:pt idx="3">
                  <c:v>Summer</c:v>
                </c:pt>
                <c:pt idx="4">
                  <c:v>Winter</c:v>
                </c:pt>
              </c:strCache>
            </c:strRef>
          </c:cat>
          <c:val>
            <c:numRef>
              <c:f>'Seasonal Demand'!$C$4:$C$8</c:f>
              <c:numCache>
                <c:formatCode>General</c:formatCode>
                <c:ptCount val="5"/>
                <c:pt idx="0">
                  <c:v>8709445.6400000025</c:v>
                </c:pt>
                <c:pt idx="1">
                  <c:v>11369774.899999997</c:v>
                </c:pt>
                <c:pt idx="2">
                  <c:v>8582047.6400000025</c:v>
                </c:pt>
                <c:pt idx="3">
                  <c:v>9050669.3100000005</c:v>
                </c:pt>
                <c:pt idx="4">
                  <c:v>9225660.7799999975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878-47D5-9CED-D7287340DB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772480"/>
        <c:axId val="34774400"/>
      </c:lineChart>
      <c:catAx>
        <c:axId val="34772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74400"/>
        <c:crosses val="autoZero"/>
        <c:auto val="1"/>
        <c:lblAlgn val="ctr"/>
        <c:lblOffset val="100"/>
        <c:noMultiLvlLbl val="0"/>
      </c:catAx>
      <c:valAx>
        <c:axId val="34774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72480"/>
        <c:crosses val="autoZero"/>
        <c:crossBetween val="between"/>
      </c:valAx>
      <c:valAx>
        <c:axId val="3477632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71520"/>
        <c:crosses val="max"/>
        <c:crossBetween val="between"/>
      </c:valAx>
      <c:catAx>
        <c:axId val="347715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47763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[toyjoy_inventory.csv.xlsx]Product-wise Inventory &amp; Turnov!PivotTable3</c:name>
    <c:fmtId val="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'Product-wise Inventory &amp; Turnov'!$B$3</c:f>
              <c:strCache>
                <c:ptCount val="1"/>
                <c:pt idx="0">
                  <c:v>Sum of UnitsSold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'Product-wise Inventory &amp; Turnov'!$A$4:$A$13</c:f>
              <c:strCache>
                <c:ptCount val="10"/>
                <c:pt idx="0">
                  <c:v>Action Robot</c:v>
                </c:pt>
                <c:pt idx="1">
                  <c:v>Board Game Master</c:v>
                </c:pt>
                <c:pt idx="2">
                  <c:v>Doll House Mini</c:v>
                </c:pt>
                <c:pt idx="3">
                  <c:v>Drawing Art Pad</c:v>
                </c:pt>
                <c:pt idx="4">
                  <c:v>Kids Drum Set</c:v>
                </c:pt>
                <c:pt idx="5">
                  <c:v>Magic Clay Kit</c:v>
                </c:pt>
                <c:pt idx="6">
                  <c:v>Puzzle Cube</c:v>
                </c:pt>
                <c:pt idx="7">
                  <c:v>Racing Car</c:v>
                </c:pt>
                <c:pt idx="8">
                  <c:v>Science Experiment Kit</c:v>
                </c:pt>
                <c:pt idx="9">
                  <c:v>Super Hero Figure</c:v>
                </c:pt>
              </c:strCache>
            </c:strRef>
          </c:cat>
          <c:val>
            <c:numRef>
              <c:f>'Product-wise Inventory &amp; Turnov'!$B$4:$B$13</c:f>
              <c:numCache>
                <c:formatCode>General</c:formatCode>
                <c:ptCount val="10"/>
                <c:pt idx="0">
                  <c:v>11768</c:v>
                </c:pt>
                <c:pt idx="1">
                  <c:v>9792</c:v>
                </c:pt>
                <c:pt idx="2">
                  <c:v>9508</c:v>
                </c:pt>
                <c:pt idx="3">
                  <c:v>9253</c:v>
                </c:pt>
                <c:pt idx="4">
                  <c:v>11160</c:v>
                </c:pt>
                <c:pt idx="5">
                  <c:v>10204</c:v>
                </c:pt>
                <c:pt idx="6">
                  <c:v>10893</c:v>
                </c:pt>
                <c:pt idx="7">
                  <c:v>9802</c:v>
                </c:pt>
                <c:pt idx="8">
                  <c:v>8690</c:v>
                </c:pt>
                <c:pt idx="9">
                  <c:v>11355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2A-40A9-8399-BBF117D37A4B}"/>
            </c:ext>
          </c:extLst>
        </c:ser>
        <c:ser>
          <c:idx val="1"/>
          <c:order val="1"/>
          <c:tx>
            <c:strRef>
              <c:f>'Product-wise Inventory &amp; Turnov'!$C$3</c:f>
              <c:strCache>
                <c:ptCount val="1"/>
                <c:pt idx="0">
                  <c:v>Average of InventoryTurnoverRate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'Product-wise Inventory &amp; Turnov'!$A$4:$A$13</c:f>
              <c:strCache>
                <c:ptCount val="10"/>
                <c:pt idx="0">
                  <c:v>Action Robot</c:v>
                </c:pt>
                <c:pt idx="1">
                  <c:v>Board Game Master</c:v>
                </c:pt>
                <c:pt idx="2">
                  <c:v>Doll House Mini</c:v>
                </c:pt>
                <c:pt idx="3">
                  <c:v>Drawing Art Pad</c:v>
                </c:pt>
                <c:pt idx="4">
                  <c:v>Kids Drum Set</c:v>
                </c:pt>
                <c:pt idx="5">
                  <c:v>Magic Clay Kit</c:v>
                </c:pt>
                <c:pt idx="6">
                  <c:v>Puzzle Cube</c:v>
                </c:pt>
                <c:pt idx="7">
                  <c:v>Racing Car</c:v>
                </c:pt>
                <c:pt idx="8">
                  <c:v>Science Experiment Kit</c:v>
                </c:pt>
                <c:pt idx="9">
                  <c:v>Super Hero Figure</c:v>
                </c:pt>
              </c:strCache>
            </c:strRef>
          </c:cat>
          <c:val>
            <c:numRef>
              <c:f>'Product-wise Inventory &amp; Turnov'!$C$4:$C$13</c:f>
              <c:numCache>
                <c:formatCode>General</c:formatCode>
                <c:ptCount val="10"/>
                <c:pt idx="0">
                  <c:v>3.0905195834699764</c:v>
                </c:pt>
                <c:pt idx="1">
                  <c:v>2.0252997233746117</c:v>
                </c:pt>
                <c:pt idx="2">
                  <c:v>2.3513986646180478</c:v>
                </c:pt>
                <c:pt idx="3">
                  <c:v>1.4259903223625796</c:v>
                </c:pt>
                <c:pt idx="4">
                  <c:v>1.4780794451357644</c:v>
                </c:pt>
                <c:pt idx="5">
                  <c:v>1.4128110621853813</c:v>
                </c:pt>
                <c:pt idx="6">
                  <c:v>1.7244958399119055</c:v>
                </c:pt>
                <c:pt idx="7">
                  <c:v>2.1565530972538869</c:v>
                </c:pt>
                <c:pt idx="8">
                  <c:v>1.7246439722096891</c:v>
                </c:pt>
                <c:pt idx="9">
                  <c:v>3.7546491848663299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2A-40A9-8399-BBF117D37A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4778720"/>
        <c:axId val="34765760"/>
      </c:barChart>
      <c:lineChart>
        <c:grouping val="standard"/>
        <c:varyColors val="0"/>
        <c:ser>
          <c:idx val="2"/>
          <c:order val="2"/>
          <c:tx>
            <c:strRef>
              <c:f>'Product-wise Inventory &amp; Turnov'!$D$3</c:f>
              <c:strCache>
                <c:ptCount val="1"/>
                <c:pt idx="0">
                  <c:v>Sum of UnitsInStock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'Product-wise Inventory &amp; Turnov'!$A$4:$A$13</c:f>
              <c:strCache>
                <c:ptCount val="10"/>
                <c:pt idx="0">
                  <c:v>Action Robot</c:v>
                </c:pt>
                <c:pt idx="1">
                  <c:v>Board Game Master</c:v>
                </c:pt>
                <c:pt idx="2">
                  <c:v>Doll House Mini</c:v>
                </c:pt>
                <c:pt idx="3">
                  <c:v>Drawing Art Pad</c:v>
                </c:pt>
                <c:pt idx="4">
                  <c:v>Kids Drum Set</c:v>
                </c:pt>
                <c:pt idx="5">
                  <c:v>Magic Clay Kit</c:v>
                </c:pt>
                <c:pt idx="6">
                  <c:v>Puzzle Cube</c:v>
                </c:pt>
                <c:pt idx="7">
                  <c:v>Racing Car</c:v>
                </c:pt>
                <c:pt idx="8">
                  <c:v>Science Experiment Kit</c:v>
                </c:pt>
                <c:pt idx="9">
                  <c:v>Super Hero Figure</c:v>
                </c:pt>
              </c:strCache>
            </c:strRef>
          </c:cat>
          <c:val>
            <c:numRef>
              <c:f>'Product-wise Inventory &amp; Turnov'!$D$4:$D$13</c:f>
              <c:numCache>
                <c:formatCode>General</c:formatCode>
                <c:ptCount val="10"/>
                <c:pt idx="0">
                  <c:v>15572</c:v>
                </c:pt>
                <c:pt idx="1">
                  <c:v>15637</c:v>
                </c:pt>
                <c:pt idx="2">
                  <c:v>13053</c:v>
                </c:pt>
                <c:pt idx="3">
                  <c:v>13789</c:v>
                </c:pt>
                <c:pt idx="4">
                  <c:v>16114</c:v>
                </c:pt>
                <c:pt idx="5">
                  <c:v>14839</c:v>
                </c:pt>
                <c:pt idx="6">
                  <c:v>14113</c:v>
                </c:pt>
                <c:pt idx="7">
                  <c:v>12841</c:v>
                </c:pt>
                <c:pt idx="8">
                  <c:v>13475</c:v>
                </c:pt>
                <c:pt idx="9">
                  <c:v>14253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82A-40A9-8399-BBF117D37A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808960"/>
        <c:axId val="34794080"/>
      </c:lineChart>
      <c:catAx>
        <c:axId val="34778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65760"/>
        <c:crosses val="autoZero"/>
        <c:auto val="1"/>
        <c:lblAlgn val="ctr"/>
        <c:lblOffset val="100"/>
        <c:noMultiLvlLbl val="0"/>
      </c:catAx>
      <c:valAx>
        <c:axId val="34765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78720"/>
        <c:crosses val="autoZero"/>
        <c:crossBetween val="between"/>
      </c:valAx>
      <c:valAx>
        <c:axId val="3479408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808960"/>
        <c:crosses val="max"/>
        <c:crossBetween val="between"/>
      </c:valAx>
      <c:catAx>
        <c:axId val="348089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479408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[toyjoy_inventory.csv.xlsx]Stockout Analysis by Product!PivotTable4</c:name>
    <c:fmtId val="3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'Stockout Analysis by Product'!$B$3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'Stockout Analysis by Product'!$A$4:$A$13</c:f>
              <c:strCache>
                <c:ptCount val="10"/>
                <c:pt idx="0">
                  <c:v>Action Robot</c:v>
                </c:pt>
                <c:pt idx="1">
                  <c:v>Board Game Master</c:v>
                </c:pt>
                <c:pt idx="2">
                  <c:v>Doll House Mini</c:v>
                </c:pt>
                <c:pt idx="3">
                  <c:v>Drawing Art Pad</c:v>
                </c:pt>
                <c:pt idx="4">
                  <c:v>Kids Drum Set</c:v>
                </c:pt>
                <c:pt idx="5">
                  <c:v>Magic Clay Kit</c:v>
                </c:pt>
                <c:pt idx="6">
                  <c:v>Puzzle Cube</c:v>
                </c:pt>
                <c:pt idx="7">
                  <c:v>Racing Car</c:v>
                </c:pt>
                <c:pt idx="8">
                  <c:v>Science Experiment Kit</c:v>
                </c:pt>
                <c:pt idx="9">
                  <c:v>Super Hero Figure</c:v>
                </c:pt>
              </c:strCache>
            </c:strRef>
          </c:cat>
          <c:val>
            <c:numRef>
              <c:f>'Stockout Analysis by Product'!$B$4:$B$13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0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91-4AB7-9FEB-77FF564473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4768640"/>
        <c:axId val="34758080"/>
      </c:barChart>
      <c:catAx>
        <c:axId val="347686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58080"/>
        <c:crosses val="autoZero"/>
        <c:auto val="1"/>
        <c:lblAlgn val="ctr"/>
        <c:lblOffset val="100"/>
        <c:noMultiLvlLbl val="0"/>
      </c:catAx>
      <c:valAx>
        <c:axId val="34758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68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type="ctrTitle"/>
          </p:nvPr>
        </p:nvSpPr>
        <p:spPr>
          <a:xfrm>
            <a:off x="1915128" y="1788454"/>
            <a:ext cx="8361229" cy="20982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  <a:defRPr sz="7200" cap="none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" type="subTitle"/>
          </p:nvPr>
        </p:nvSpPr>
        <p:spPr>
          <a:xfrm>
            <a:off x="2679906" y="3956279"/>
            <a:ext cx="6831673" cy="108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/>
            </a:lvl1pPr>
            <a:lvl2pPr lvl="1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6pPr>
            <a:lvl7pPr lvl="6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7pPr>
            <a:lvl8pPr lvl="7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8pPr>
            <a:lvl9pPr lvl="8" algn="ctr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11"/>
          <p:cNvSpPr txBox="1"/>
          <p:nvPr>
            <p:ph idx="10" type="dt"/>
          </p:nvPr>
        </p:nvSpPr>
        <p:spPr>
          <a:xfrm>
            <a:off x="752858" y="6453386"/>
            <a:ext cx="1607944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1" type="ftr"/>
          </p:nvPr>
        </p:nvSpPr>
        <p:spPr>
          <a:xfrm>
            <a:off x="2584054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" name="Google Shape;18;p11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9" name="Google Shape;19;p11"/>
            <p:cNvSpPr/>
            <p:nvPr/>
          </p:nvSpPr>
          <p:spPr>
            <a:xfrm>
              <a:off x="8151962" y="1685652"/>
              <a:ext cx="3275013" cy="4408488"/>
            </a:xfrm>
            <a:custGeom>
              <a:rect b="b" l="l" r="r" t="t"/>
              <a:pathLst>
                <a:path extrusionOk="0" h="10000" w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20" name="Google Shape;20;p11"/>
            <p:cNvSpPr/>
            <p:nvPr/>
          </p:nvSpPr>
          <p:spPr>
            <a:xfrm rot="10800000">
              <a:off x="752858" y="744469"/>
              <a:ext cx="3275668" cy="4408488"/>
            </a:xfrm>
            <a:custGeom>
              <a:rect b="b" l="l" r="r" t="t"/>
              <a:pathLst>
                <a:path extrusionOk="0" h="10000" w="10002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dk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65025" y="1301360"/>
            <a:ext cx="9612971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Libre Franklin"/>
              <a:buNone/>
              <a:defRPr sz="7200" cap="none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65025" y="4216328"/>
            <a:ext cx="9612971" cy="114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738908" y="6453386"/>
            <a:ext cx="162240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2584312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3" title="Crop Mark"/>
          <p:cNvSpPr/>
          <p:nvPr/>
        </p:nvSpPr>
        <p:spPr>
          <a:xfrm>
            <a:off x="8151962" y="1685652"/>
            <a:ext cx="3275013" cy="4408488"/>
          </a:xfrm>
          <a:custGeom>
            <a:rect b="b" l="l" r="r" t="t"/>
            <a:pathLst>
              <a:path extrusionOk="0" h="5554" w="4125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" type="body"/>
          </p:nvPr>
        </p:nvSpPr>
        <p:spPr>
          <a:xfrm>
            <a:off x="1371600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2" type="body"/>
          </p:nvPr>
        </p:nvSpPr>
        <p:spPr>
          <a:xfrm>
            <a:off x="6525403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" type="body"/>
          </p:nvPr>
        </p:nvSpPr>
        <p:spPr>
          <a:xfrm>
            <a:off x="1371600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5"/>
          <p:cNvSpPr txBox="1"/>
          <p:nvPr>
            <p:ph idx="2" type="body"/>
          </p:nvPr>
        </p:nvSpPr>
        <p:spPr>
          <a:xfrm>
            <a:off x="1371600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5" name="Google Shape;45;p15"/>
          <p:cNvSpPr txBox="1"/>
          <p:nvPr>
            <p:ph idx="3" type="body"/>
          </p:nvPr>
        </p:nvSpPr>
        <p:spPr>
          <a:xfrm>
            <a:off x="6525014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5"/>
          <p:cNvSpPr txBox="1"/>
          <p:nvPr>
            <p:ph idx="4" type="body"/>
          </p:nvPr>
        </p:nvSpPr>
        <p:spPr>
          <a:xfrm>
            <a:off x="6525014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8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" type="body"/>
          </p:nvPr>
        </p:nvSpPr>
        <p:spPr>
          <a:xfrm>
            <a:off x="6256020" y="685801"/>
            <a:ext cx="521208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/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5pPr>
            <a:lvl6pPr indent="-3302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6pPr>
            <a:lvl7pPr indent="-3302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7pPr>
            <a:lvl8pPr indent="-3302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8pPr>
            <a:lvl9pPr indent="-3302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63" name="Google Shape;63;p18"/>
          <p:cNvSpPr txBox="1"/>
          <p:nvPr>
            <p:ph idx="2" type="body"/>
          </p:nvPr>
        </p:nvSpPr>
        <p:spPr>
          <a:xfrm>
            <a:off x="723900" y="2856344"/>
            <a:ext cx="3855720" cy="3011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8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9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/>
          <p:nvPr>
            <p:ph idx="2" type="pic"/>
          </p:nvPr>
        </p:nvSpPr>
        <p:spPr>
          <a:xfrm>
            <a:off x="5532120" y="0"/>
            <a:ext cx="6659880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723900" y="2855968"/>
            <a:ext cx="3855720" cy="3011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9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" type="body"/>
          </p:nvPr>
        </p:nvSpPr>
        <p:spPr>
          <a:xfrm rot="5400000">
            <a:off x="4386263" y="-719137"/>
            <a:ext cx="3571875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type="title"/>
          </p:nvPr>
        </p:nvSpPr>
        <p:spPr>
          <a:xfrm rot="5400000">
            <a:off x="7757822" y="2462895"/>
            <a:ext cx="5243244" cy="156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" type="body"/>
          </p:nvPr>
        </p:nvSpPr>
        <p:spPr>
          <a:xfrm rot="5400000">
            <a:off x="2839799" y="-844042"/>
            <a:ext cx="5243244" cy="8179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 b="0" i="0" sz="4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■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5600" lvl="1" marL="914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–"/>
              <a:defRPr b="0" i="1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42900" lvl="2" marL="1371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■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–"/>
              <a:defRPr b="0" i="1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30200" lvl="4" marL="22860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■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30200" lvl="5" marL="27432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–"/>
              <a:defRPr b="0" i="1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–"/>
              <a:defRPr b="0" i="1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0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>
            <p:ph type="ctrTitle"/>
          </p:nvPr>
        </p:nvSpPr>
        <p:spPr>
          <a:xfrm>
            <a:off x="736008" y="1207943"/>
            <a:ext cx="6622736" cy="139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1" lang="en-US" sz="3200"/>
              <a:t>SEASONAL INVENTORY MANAGEMENT – TOYJOY</a:t>
            </a:r>
            <a:endParaRPr b="1" sz="3200"/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2679906" y="3956279"/>
            <a:ext cx="6831673" cy="108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</a:pPr>
            <a:r>
              <a:rPr lang="en-US"/>
              <a:t>Business Analytics Assignment </a:t>
            </a:r>
            <a:endParaRPr/>
          </a:p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</a:pPr>
            <a:r>
              <a:rPr lang="en-US"/>
              <a:t>Prepaid by:- Nishanth B 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Business Scenario / Background </a:t>
            </a:r>
            <a:endParaRPr/>
          </a:p>
        </p:txBody>
      </p: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1485600" y="1841001"/>
            <a:ext cx="77664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ToyJoy sells toys through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retail stores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Observed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excess inventory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stockouts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last season.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Optimize inventory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reduce lost sales, improve cash flow.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371600" y="3059668"/>
            <a:ext cx="227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Business 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371600" y="3585600"/>
            <a:ext cx="76104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.Identify products with high overstock &amp; low sales.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.Predict seasonal demand trends.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.Recommend inventory adjustments to minimize waste &amp; lost sales.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1112400" y="165600"/>
            <a:ext cx="9601200" cy="10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Key KPIs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1025525" y="836798"/>
            <a:ext cx="6952075" cy="3139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Units Sold per Product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Inventory Turnover Rate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Stockout Rate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Excess Inventory Value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Seasonal Demand Patterns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Revenue Contribution per Product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1371600" y="685800"/>
            <a:ext cx="96012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Top 5 Products by Units Sold</a:t>
            </a:r>
            <a:endParaRPr/>
          </a:p>
        </p:txBody>
      </p:sp>
      <p:graphicFrame>
        <p:nvGraphicFramePr>
          <p:cNvPr id="114" name="Google Shape;114;p4"/>
          <p:cNvGraphicFramePr/>
          <p:nvPr/>
        </p:nvGraphicFramePr>
        <p:xfrm>
          <a:off x="1295400" y="1400700"/>
          <a:ext cx="9601200" cy="358140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1371600" y="685800"/>
            <a:ext cx="96012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Category-wise Revenue &amp; Profit</a:t>
            </a:r>
            <a:endParaRPr/>
          </a:p>
        </p:txBody>
      </p:sp>
      <p:graphicFrame>
        <p:nvGraphicFramePr>
          <p:cNvPr id="120" name="Google Shape;120;p5"/>
          <p:cNvGraphicFramePr/>
          <p:nvPr/>
        </p:nvGraphicFramePr>
        <p:xfrm>
          <a:off x="1295400" y="1533600"/>
          <a:ext cx="9601200" cy="35814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21" name="Google Shape;121;p5"/>
          <p:cNvSpPr txBox="1"/>
          <p:nvPr/>
        </p:nvSpPr>
        <p:spPr>
          <a:xfrm>
            <a:off x="1295400" y="5380672"/>
            <a:ext cx="971005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Puzzles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generate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highest revenue &amp; profit</a:t>
            </a:r>
            <a:r>
              <a:rPr b="0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Action Figures &amp; Board Games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also strong performers in revenue, moderate profit.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Dolls</a:t>
            </a:r>
            <a:r>
              <a:rPr b="0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show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lowest revenue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but profit is comparable to others.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1371600" y="685800"/>
            <a:ext cx="9601200" cy="961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Season-wise Units Sold &amp; Revenue</a:t>
            </a:r>
            <a:endParaRPr/>
          </a:p>
        </p:txBody>
      </p:sp>
      <p:graphicFrame>
        <p:nvGraphicFramePr>
          <p:cNvPr id="127" name="Google Shape;127;p6"/>
          <p:cNvGraphicFramePr/>
          <p:nvPr/>
        </p:nvGraphicFramePr>
        <p:xfrm>
          <a:off x="1509713" y="1552575"/>
          <a:ext cx="9601200" cy="3316288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28" name="Google Shape;128;p6"/>
          <p:cNvSpPr txBox="1"/>
          <p:nvPr/>
        </p:nvSpPr>
        <p:spPr>
          <a:xfrm>
            <a:off x="1211942" y="5305425"/>
            <a:ext cx="935445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Holiday season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drives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highest sales and revenue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Winter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shows strong demand, while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Festival &amp; Summer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have moderate sales.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 season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contributes the lowest revenue.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Product-wise Inventory &amp; Turnover</a:t>
            </a:r>
            <a:endParaRPr/>
          </a:p>
        </p:txBody>
      </p:sp>
      <p:graphicFrame>
        <p:nvGraphicFramePr>
          <p:cNvPr id="134" name="Google Shape;134;p7"/>
          <p:cNvGraphicFramePr/>
          <p:nvPr/>
        </p:nvGraphicFramePr>
        <p:xfrm>
          <a:off x="1371600" y="1574800"/>
          <a:ext cx="9601200" cy="35814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35" name="Google Shape;135;p7"/>
          <p:cNvSpPr txBox="1"/>
          <p:nvPr/>
        </p:nvSpPr>
        <p:spPr>
          <a:xfrm>
            <a:off x="1291771" y="5094513"/>
            <a:ext cx="923108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Super Hero Figure</a:t>
            </a:r>
            <a:r>
              <a:rPr b="0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is a fast-moving product with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highest turnover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while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Kids Drum Set &amp; Magic Clay Kit</a:t>
            </a:r>
            <a:r>
              <a:rPr b="0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have high stock but lower turnover, indicating potential overstock.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Action Robot and Puzzle Cube show good sales with moderate turnover, balancing stock efficiency.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>
            <p:ph type="title"/>
          </p:nvPr>
        </p:nvSpPr>
        <p:spPr>
          <a:xfrm>
            <a:off x="1371600" y="685800"/>
            <a:ext cx="9601200" cy="896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Stockout Analysis</a:t>
            </a:r>
            <a:endParaRPr/>
          </a:p>
        </p:txBody>
      </p:sp>
      <p:graphicFrame>
        <p:nvGraphicFramePr>
          <p:cNvPr id="141" name="Google Shape;141;p8"/>
          <p:cNvGraphicFramePr/>
          <p:nvPr/>
        </p:nvGraphicFramePr>
        <p:xfrm>
          <a:off x="1371600" y="1698625"/>
          <a:ext cx="9601200" cy="3279775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42" name="Google Shape;142;p8"/>
          <p:cNvSpPr/>
          <p:nvPr/>
        </p:nvSpPr>
        <p:spPr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1128253" y="5434782"/>
            <a:ext cx="1091380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 Hero Figure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experiences the most frequent stockouts, indicating potential lost sales.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Kids Drum Set &amp; Science Experiment Kit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remain consistently in stock, while other products face occasional stockouts</a:t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>
            <p:ph type="title"/>
          </p:nvPr>
        </p:nvSpPr>
        <p:spPr>
          <a:xfrm>
            <a:off x="1371600" y="685800"/>
            <a:ext cx="9601200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Recommendations &amp; Future Planning</a:t>
            </a:r>
            <a:endParaRPr/>
          </a:p>
        </p:txBody>
      </p:sp>
      <p:sp>
        <p:nvSpPr>
          <p:cNvPr id="149" name="Google Shape;149;p9"/>
          <p:cNvSpPr txBox="1"/>
          <p:nvPr>
            <p:ph idx="1" type="body"/>
          </p:nvPr>
        </p:nvSpPr>
        <p:spPr>
          <a:xfrm>
            <a:off x="1371600" y="1929275"/>
            <a:ext cx="9601200" cy="4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b="1" lang="en-US"/>
              <a:t>Optimize Stock:</a:t>
            </a:r>
            <a:r>
              <a:rPr lang="en-US"/>
              <a:t> Reduce overstock for slow-moving products (Kids Drum Set, Magic Clay Kit). Maintain stock for fast-moving items (Super Hero Figure, Action Robot, Puzzle Cube).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b="1" lang="en-US"/>
              <a:t>Top Products Focus:</a:t>
            </a:r>
            <a:r>
              <a:rPr lang="en-US"/>
              <a:t> Ensure Top 5 products by sales are always available.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b="1" lang="en-US"/>
              <a:t>Seasonal Planning:</a:t>
            </a:r>
            <a:r>
              <a:rPr lang="en-US"/>
              <a:t> Increase stock before Holiday &amp; Winter; moderate for Festival &amp; Summer; reduce for Regular season.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b="1" lang="en-US"/>
              <a:t>Monitor Inventory:</a:t>
            </a:r>
            <a:r>
              <a:rPr lang="en-US"/>
              <a:t> Track stockouts and turnover regularly to prevent lost sales and capital tie-up.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b="1" lang="en-US"/>
              <a:t>Future Planning:</a:t>
            </a:r>
            <a:r>
              <a:rPr lang="en-US"/>
              <a:t> Use seasonal forecasting and optimize reorder points to balance stock efficiency and demand.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2025-11-12T08:30:42Z</dcterms:created>
  <dc:creator>RAM PAIN RELIEF PHYSIOTHERAPY CLINIC</dc:creator>
</cp:coreProperties>
</file>