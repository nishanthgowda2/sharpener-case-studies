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4.xml"/>
  <Override ContentType="application/vnd.openxmlformats-officedocument.drawingml.chart+xml" PartName="/ppt/charts/char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Libre Franklin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sQLeYMFqbO/NPGtwTOGUe13eW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ibreFranklin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ibreFranklin-italic.fntdata"/><Relationship Id="rId14" Type="http://schemas.openxmlformats.org/officeDocument/2006/relationships/font" Target="fonts/LibreFranklin-bold.fntdata"/><Relationship Id="rId17" Type="http://customschemas.google.com/relationships/presentationmetadata" Target="metadata"/><Relationship Id="rId16" Type="http://schemas.openxmlformats.org/officeDocument/2006/relationships/font" Target="fonts/LibreFranklin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SUMIT%20YADUVANSHI\Downloads\boxify_customers(DeepakYadav)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C:\Users\SUMIT%20YADUVANSHI\Downloads\boxify_customers(DeepakYadav).xlsx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oleObject" Target="file:///C:\Users\SUMIT%20YADUVANSHI\Downloads\boxify_customers(DeepakYadav).xlsx" TargetMode="External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oleObject" Target="file:///C:\Users\SUMIT%20YADUVANSHI\Downloads\boxify_customers(DeepakYadav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[boxify_customers(DeepakYadav).xlsx]Monthly Churn Trend!PivotTable1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Monthly Churn Trend</a:t>
            </a:r>
            <a:endParaRPr lang="en-IN"/>
          </a:p>
        </c:rich>
      </c:tx>
      <c:layout>
        <c:manualLayout>
          <c:xMode val="edge"/>
          <c:yMode val="edge"/>
          <c:x val="0.31495122484689414"/>
          <c:y val="5.92085318655357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'Monthly Churn Trend'!$B$3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'Monthly Churn Trend'!$A$4:$A$47</c:f>
              <c:strCache>
                <c:ptCount val="44"/>
                <c:pt idx="1">
                  <c:v>2022-02</c:v>
                </c:pt>
                <c:pt idx="2">
                  <c:v>2022-03</c:v>
                </c:pt>
                <c:pt idx="3">
                  <c:v>2022-04</c:v>
                </c:pt>
                <c:pt idx="4">
                  <c:v>2022-05</c:v>
                </c:pt>
                <c:pt idx="5">
                  <c:v>2022-06</c:v>
                </c:pt>
                <c:pt idx="6">
                  <c:v>2022-07</c:v>
                </c:pt>
                <c:pt idx="7">
                  <c:v>2022-08</c:v>
                </c:pt>
                <c:pt idx="8">
                  <c:v>2022-09</c:v>
                </c:pt>
                <c:pt idx="9">
                  <c:v>2022-10</c:v>
                </c:pt>
                <c:pt idx="10">
                  <c:v>2022-11</c:v>
                </c:pt>
                <c:pt idx="11">
                  <c:v>2022-12</c:v>
                </c:pt>
                <c:pt idx="12">
                  <c:v>2023-01</c:v>
                </c:pt>
                <c:pt idx="13">
                  <c:v>2023-02</c:v>
                </c:pt>
                <c:pt idx="14">
                  <c:v>2023-03</c:v>
                </c:pt>
                <c:pt idx="15">
                  <c:v>2023-04</c:v>
                </c:pt>
                <c:pt idx="16">
                  <c:v>2023-05</c:v>
                </c:pt>
                <c:pt idx="17">
                  <c:v>2023-06</c:v>
                </c:pt>
                <c:pt idx="18">
                  <c:v>2023-07</c:v>
                </c:pt>
                <c:pt idx="19">
                  <c:v>2023-08</c:v>
                </c:pt>
                <c:pt idx="20">
                  <c:v>2023-09</c:v>
                </c:pt>
                <c:pt idx="21">
                  <c:v>2023-10</c:v>
                </c:pt>
                <c:pt idx="22">
                  <c:v>2023-11</c:v>
                </c:pt>
                <c:pt idx="23">
                  <c:v>2023-12</c:v>
                </c:pt>
                <c:pt idx="24">
                  <c:v>2024-01</c:v>
                </c:pt>
                <c:pt idx="25">
                  <c:v>2024-02</c:v>
                </c:pt>
                <c:pt idx="26">
                  <c:v>2024-03</c:v>
                </c:pt>
                <c:pt idx="27">
                  <c:v>2024-04</c:v>
                </c:pt>
                <c:pt idx="28">
                  <c:v>2024-05</c:v>
                </c:pt>
                <c:pt idx="29">
                  <c:v>2024-06</c:v>
                </c:pt>
                <c:pt idx="30">
                  <c:v>2024-07</c:v>
                </c:pt>
                <c:pt idx="31">
                  <c:v>2024-08</c:v>
                </c:pt>
                <c:pt idx="32">
                  <c:v>2024-09</c:v>
                </c:pt>
                <c:pt idx="33">
                  <c:v>2024-10</c:v>
                </c:pt>
                <c:pt idx="34">
                  <c:v>2024-11</c:v>
                </c:pt>
                <c:pt idx="35">
                  <c:v>2024-12</c:v>
                </c:pt>
                <c:pt idx="36">
                  <c:v>2025-01</c:v>
                </c:pt>
                <c:pt idx="37">
                  <c:v>2025-02</c:v>
                </c:pt>
                <c:pt idx="38">
                  <c:v>2025-03</c:v>
                </c:pt>
                <c:pt idx="39">
                  <c:v>2025-04</c:v>
                </c:pt>
                <c:pt idx="40">
                  <c:v>2025-05</c:v>
                </c:pt>
                <c:pt idx="41">
                  <c:v>2025-06</c:v>
                </c:pt>
                <c:pt idx="42">
                  <c:v>2025-07</c:v>
                </c:pt>
                <c:pt idx="43">
                  <c:v>2025-08</c:v>
                </c:pt>
              </c:strCache>
            </c:strRef>
          </c:cat>
          <c:val>
            <c:numRef>
              <c:f>'Monthly Churn Trend'!$B$4:$B$47</c:f>
              <c:numCache>
                <c:formatCode>General</c:formatCode>
                <c:ptCount val="44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2</c:v>
                </c:pt>
                <c:pt idx="4">
                  <c:v>8</c:v>
                </c:pt>
                <c:pt idx="5">
                  <c:v>10</c:v>
                </c:pt>
                <c:pt idx="6">
                  <c:v>21</c:v>
                </c:pt>
                <c:pt idx="7">
                  <c:v>20</c:v>
                </c:pt>
                <c:pt idx="8">
                  <c:v>19</c:v>
                </c:pt>
                <c:pt idx="9">
                  <c:v>18</c:v>
                </c:pt>
                <c:pt idx="10">
                  <c:v>24</c:v>
                </c:pt>
                <c:pt idx="11">
                  <c:v>26</c:v>
                </c:pt>
                <c:pt idx="12">
                  <c:v>23</c:v>
                </c:pt>
                <c:pt idx="13">
                  <c:v>23</c:v>
                </c:pt>
                <c:pt idx="14">
                  <c:v>19</c:v>
                </c:pt>
                <c:pt idx="15">
                  <c:v>27</c:v>
                </c:pt>
                <c:pt idx="16">
                  <c:v>33</c:v>
                </c:pt>
                <c:pt idx="17">
                  <c:v>18</c:v>
                </c:pt>
                <c:pt idx="18">
                  <c:v>22</c:v>
                </c:pt>
                <c:pt idx="19">
                  <c:v>23</c:v>
                </c:pt>
                <c:pt idx="20">
                  <c:v>18</c:v>
                </c:pt>
                <c:pt idx="21">
                  <c:v>16</c:v>
                </c:pt>
                <c:pt idx="22">
                  <c:v>30</c:v>
                </c:pt>
                <c:pt idx="23">
                  <c:v>22</c:v>
                </c:pt>
                <c:pt idx="24">
                  <c:v>22</c:v>
                </c:pt>
                <c:pt idx="25">
                  <c:v>21</c:v>
                </c:pt>
                <c:pt idx="26">
                  <c:v>29</c:v>
                </c:pt>
                <c:pt idx="27">
                  <c:v>30</c:v>
                </c:pt>
                <c:pt idx="28">
                  <c:v>24</c:v>
                </c:pt>
                <c:pt idx="29">
                  <c:v>23</c:v>
                </c:pt>
                <c:pt idx="30">
                  <c:v>23</c:v>
                </c:pt>
                <c:pt idx="31">
                  <c:v>28</c:v>
                </c:pt>
                <c:pt idx="32">
                  <c:v>22</c:v>
                </c:pt>
                <c:pt idx="33">
                  <c:v>28</c:v>
                </c:pt>
                <c:pt idx="34">
                  <c:v>17</c:v>
                </c:pt>
                <c:pt idx="35">
                  <c:v>20</c:v>
                </c:pt>
                <c:pt idx="36">
                  <c:v>12</c:v>
                </c:pt>
                <c:pt idx="37">
                  <c:v>18</c:v>
                </c:pt>
                <c:pt idx="38">
                  <c:v>16</c:v>
                </c:pt>
                <c:pt idx="39">
                  <c:v>9</c:v>
                </c:pt>
                <c:pt idx="40">
                  <c:v>6</c:v>
                </c:pt>
                <c:pt idx="41">
                  <c:v>12</c:v>
                </c:pt>
                <c:pt idx="42">
                  <c:v>5</c:v>
                </c:pt>
                <c:pt idx="4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9B-4042-99FB-8D13B76453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83006880"/>
        <c:axId val="1983019360"/>
      </c:lineChart>
      <c:catAx>
        <c:axId val="1983006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019360"/>
        <c:crosses val="autoZero"/>
        <c:auto val="1"/>
        <c:lblAlgn val="ctr"/>
        <c:lblOffset val="100"/>
        <c:noMultiLvlLbl val="0"/>
      </c:catAx>
      <c:valAx>
        <c:axId val="1983019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006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[boxify_customers(DeepakYadav).xlsx]Churn by Subscription Type!PivotTable2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Churn by Subscription Type</a:t>
            </a:r>
            <a:endParaRPr lang="en-IN"/>
          </a:p>
        </c:rich>
      </c:tx>
      <c:layout>
        <c:manualLayout>
          <c:xMode val="edge"/>
          <c:yMode val="edge"/>
          <c:x val="0.26823600174978129"/>
          <c:y val="7.3107762081659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'Churn by Subscription Type'!$B$3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'Churn by Subscription Type'!$A$4:$A$7</c:f>
              <c:strCache>
                <c:ptCount val="4"/>
                <c:pt idx="0">
                  <c:v>Annual</c:v>
                </c:pt>
                <c:pt idx="1">
                  <c:v>Monthly</c:v>
                </c:pt>
                <c:pt idx="2">
                  <c:v>Quarterly</c:v>
                </c:pt>
                <c:pt idx="3">
                  <c:v>Trial</c:v>
                </c:pt>
              </c:strCache>
            </c:strRef>
          </c:cat>
          <c:val>
            <c:numRef>
              <c:f>'Churn by Subscription Type'!$B$4:$B$7</c:f>
              <c:numCache>
                <c:formatCode>0.00%</c:formatCode>
                <c:ptCount val="4"/>
                <c:pt idx="0">
                  <c:v>0.25094102885821834</c:v>
                </c:pt>
                <c:pt idx="1">
                  <c:v>0.26599749058971139</c:v>
                </c:pt>
                <c:pt idx="2">
                  <c:v>0.2233375156838143</c:v>
                </c:pt>
                <c:pt idx="3">
                  <c:v>0.25972396486825594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D1-4B8C-A2AF-881062C0D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3011680"/>
        <c:axId val="1983019840"/>
      </c:barChart>
      <c:catAx>
        <c:axId val="1983011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019840"/>
        <c:crosses val="autoZero"/>
        <c:auto val="1"/>
        <c:lblAlgn val="ctr"/>
        <c:lblOffset val="100"/>
        <c:noMultiLvlLbl val="0"/>
      </c:catAx>
      <c:valAx>
        <c:axId val="1983019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011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[boxify_customers(DeepakYadav).xlsx]Churn by Age Group!PivotTable3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Churn by Age Group</a:t>
            </a:r>
          </a:p>
          <a:p>
            <a:pPr>
              <a:defRPr/>
            </a:pPr>
            <a:endParaRPr lang="en-US"/>
          </a:p>
        </c:rich>
      </c:tx>
      <c:layout>
        <c:manualLayout>
          <c:xMode val="edge"/>
          <c:yMode val="edge"/>
          <c:x val="0.32965966754155734"/>
          <c:y val="8.70934770454825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'Churn by Age Group'!$B$3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'Churn by Age Group'!$A$4:$A$7</c:f>
              <c:strCache>
                <c:ptCount val="4"/>
                <c:pt idx="0">
                  <c:v>&lt;25</c:v>
                </c:pt>
                <c:pt idx="1">
                  <c:v>&gt;50</c:v>
                </c:pt>
                <c:pt idx="2">
                  <c:v>25-35</c:v>
                </c:pt>
                <c:pt idx="3">
                  <c:v>36-50</c:v>
                </c:pt>
              </c:strCache>
            </c:strRef>
          </c:cat>
          <c:val>
            <c:numRef>
              <c:f>'Churn by Age Group'!$B$4:$B$7</c:f>
              <c:numCache>
                <c:formatCode>0.00%</c:formatCode>
                <c:ptCount val="4"/>
                <c:pt idx="0">
                  <c:v>0.1806775407779172</c:v>
                </c:pt>
                <c:pt idx="1">
                  <c:v>0.23086574654956085</c:v>
                </c:pt>
                <c:pt idx="2">
                  <c:v>0.25345043914680049</c:v>
                </c:pt>
                <c:pt idx="3">
                  <c:v>0.33500627352572143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83-471B-AB9B-B2A61BEB17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3020320"/>
        <c:axId val="1983026080"/>
      </c:barChart>
      <c:catAx>
        <c:axId val="1983020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026080"/>
        <c:crosses val="autoZero"/>
        <c:auto val="1"/>
        <c:lblAlgn val="ctr"/>
        <c:lblOffset val="100"/>
        <c:noMultiLvlLbl val="0"/>
      </c:catAx>
      <c:valAx>
        <c:axId val="1983026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020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[boxify_customers(DeepakYadav).xlsx]Revenue Lost by Segment!PivotTable6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Revenue Lost by Subscription Type</a:t>
            </a:r>
            <a:endParaRPr lang="en-IN"/>
          </a:p>
        </c:rich>
      </c:tx>
      <c:layout>
        <c:manualLayout>
          <c:xMode val="edge"/>
          <c:yMode val="edge"/>
          <c:x val="0.21946522309711286"/>
          <c:y val="6.38416086042436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Lost by Segment'!$B$3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Lost by Segment'!$A$4:$A$7</c:f>
              <c:strCache>
                <c:ptCount val="4"/>
                <c:pt idx="0">
                  <c:v>Annual</c:v>
                </c:pt>
                <c:pt idx="1">
                  <c:v>Monthly</c:v>
                </c:pt>
                <c:pt idx="2">
                  <c:v>Quarterly</c:v>
                </c:pt>
                <c:pt idx="3">
                  <c:v>Trial</c:v>
                </c:pt>
              </c:strCache>
            </c:strRef>
          </c:cat>
          <c:val>
            <c:numRef>
              <c:f>'Revenue Lost by Segment'!$B$4:$B$7</c:f>
              <c:numCache>
                <c:formatCode>General</c:formatCode>
                <c:ptCount val="4"/>
                <c:pt idx="0">
                  <c:v>1038570</c:v>
                </c:pt>
                <c:pt idx="1">
                  <c:v>1073676</c:v>
                </c:pt>
                <c:pt idx="2">
                  <c:v>869977</c:v>
                </c:pt>
                <c:pt idx="3">
                  <c:v>1058203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86-4BA8-BFA0-2FC934793F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83059200"/>
        <c:axId val="1983040480"/>
      </c:barChart>
      <c:catAx>
        <c:axId val="1983059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040480"/>
        <c:crosses val="autoZero"/>
        <c:auto val="1"/>
        <c:lblAlgn val="ctr"/>
        <c:lblOffset val="100"/>
        <c:noMultiLvlLbl val="0"/>
      </c:catAx>
      <c:valAx>
        <c:axId val="1983040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3059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" name="Google Shape;22;p10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3" name="Google Shape;23;p10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24" name="Google Shape;24;p10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" type="body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12"/>
          <p:cNvSpPr txBox="1"/>
          <p:nvPr>
            <p:ph idx="10" type="dt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2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3" type="body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4"/>
          <p:cNvSpPr txBox="1"/>
          <p:nvPr>
            <p:ph idx="4" type="body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7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7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7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8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/>
          <p:nvPr>
            <p:ph idx="2" type="pic"/>
          </p:nvPr>
        </p:nvSpPr>
        <p:spPr>
          <a:xfrm>
            <a:off x="5532120" y="0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1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9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>
            <p:ph type="ctrTitle"/>
          </p:nvPr>
        </p:nvSpPr>
        <p:spPr>
          <a:xfrm>
            <a:off x="1137953" y="1236892"/>
            <a:ext cx="8361300" cy="20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Libre Franklin"/>
              <a:buNone/>
            </a:pPr>
            <a:r>
              <a:rPr lang="en-US" sz="5400"/>
              <a:t>BOXIFY – CUSTOMER CHURN ANALYSIS</a:t>
            </a:r>
            <a:endParaRPr/>
          </a:p>
        </p:txBody>
      </p:sp>
      <p:sp>
        <p:nvSpPr>
          <p:cNvPr id="98" name="Google Shape;98;p1"/>
          <p:cNvSpPr txBox="1"/>
          <p:nvPr>
            <p:ph idx="1" type="subTitle"/>
          </p:nvPr>
        </p:nvSpPr>
        <p:spPr>
          <a:xfrm>
            <a:off x="2679897" y="4176225"/>
            <a:ext cx="5689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Subtitle: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Business Analytics Project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: Nishanth B 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b="1" lang="en-US"/>
              <a:t>Business Scenario &amp; Objective</a:t>
            </a:r>
            <a:br>
              <a:rPr b="1" lang="en-US"/>
            </a:br>
            <a:endParaRPr/>
          </a:p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1098000" y="1642637"/>
            <a:ext cx="776687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Scenario: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Boxify delivers monthly lifestyle subscription boxes.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Company faces rising churn in first 6 months.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 churn 5–10% in 6 months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high-risk segments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 retention strategies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371600" y="685800"/>
            <a:ext cx="9601200" cy="1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Key KPIs</a:t>
            </a:r>
            <a:endParaRPr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en-US"/>
              <a:t>Churn Rate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en-US"/>
              <a:t>Customer Lifetime Value (CLV)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en-US"/>
              <a:t>Engagement Rate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en-US"/>
              <a:t>Subscription Duration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en-US"/>
              <a:t>Revenue Lost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1371600" y="685800"/>
            <a:ext cx="96012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Monthly Churn Trend</a:t>
            </a:r>
            <a:endParaRPr/>
          </a:p>
        </p:txBody>
      </p:sp>
      <p:graphicFrame>
        <p:nvGraphicFramePr>
          <p:cNvPr id="116" name="Google Shape;116;p4"/>
          <p:cNvGraphicFramePr/>
          <p:nvPr/>
        </p:nvGraphicFramePr>
        <p:xfrm>
          <a:off x="2104800" y="1310399"/>
          <a:ext cx="8715600" cy="3045601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7" name="Google Shape;117;p4"/>
          <p:cNvSpPr txBox="1"/>
          <p:nvPr/>
        </p:nvSpPr>
        <p:spPr>
          <a:xfrm>
            <a:off x="1569600" y="5178269"/>
            <a:ext cx="849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Churn spikes in March and April preemptive engagement campaigns needed.</a:t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1371600" y="685800"/>
            <a:ext cx="9601200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Churn by Subscription Type</a:t>
            </a:r>
            <a:endParaRPr/>
          </a:p>
        </p:txBody>
      </p:sp>
      <p:graphicFrame>
        <p:nvGraphicFramePr>
          <p:cNvPr id="123" name="Google Shape;123;p5"/>
          <p:cNvGraphicFramePr/>
          <p:nvPr/>
        </p:nvGraphicFramePr>
        <p:xfrm>
          <a:off x="3049200" y="1260900"/>
          <a:ext cx="8528400" cy="3830487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24" name="Google Shape;124;p5"/>
          <p:cNvSpPr txBox="1"/>
          <p:nvPr/>
        </p:nvSpPr>
        <p:spPr>
          <a:xfrm>
            <a:off x="1720800" y="5774400"/>
            <a:ext cx="9601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Monthly subscription have higher churn (26%) vs Quarterly (15%); retention offers should focus on Monthly users.</a:t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type="title"/>
          </p:nvPr>
        </p:nvSpPr>
        <p:spPr>
          <a:xfrm>
            <a:off x="1371600" y="685800"/>
            <a:ext cx="96012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Churn by Age Group</a:t>
            </a:r>
            <a:endParaRPr/>
          </a:p>
        </p:txBody>
      </p:sp>
      <p:graphicFrame>
        <p:nvGraphicFramePr>
          <p:cNvPr id="130" name="Google Shape;130;p6"/>
          <p:cNvGraphicFramePr/>
          <p:nvPr/>
        </p:nvGraphicFramePr>
        <p:xfrm>
          <a:off x="2228400" y="1295638"/>
          <a:ext cx="8802000" cy="3139562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1" name="Google Shape;131;p6"/>
          <p:cNvSpPr txBox="1"/>
          <p:nvPr/>
        </p:nvSpPr>
        <p:spPr>
          <a:xfrm>
            <a:off x="1857600" y="4916031"/>
            <a:ext cx="96012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36–50 age group shows highest churn (25%); personalized engagement strategies recommended.</a:t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810000" y="282600"/>
            <a:ext cx="96012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</a:pPr>
            <a:r>
              <a:rPr lang="en-US"/>
              <a:t>Revenue Lost by Segment</a:t>
            </a:r>
            <a:endParaRPr/>
          </a:p>
        </p:txBody>
      </p:sp>
      <p:graphicFrame>
        <p:nvGraphicFramePr>
          <p:cNvPr id="137" name="Google Shape;137;p7"/>
          <p:cNvGraphicFramePr/>
          <p:nvPr/>
        </p:nvGraphicFramePr>
        <p:xfrm>
          <a:off x="1371600" y="1152525"/>
          <a:ext cx="8780400" cy="4283475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38" name="Google Shape;138;p7"/>
          <p:cNvSpPr txBox="1"/>
          <p:nvPr/>
        </p:nvSpPr>
        <p:spPr>
          <a:xfrm>
            <a:off x="1236000" y="5705475"/>
            <a:ext cx="972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Monthly subscribers caused highest revenue loss (₹1.07M), followed by Trial and Annual. Retention efforts should prioritize these high-impact segments to reduce revenue loss.</a:t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1371600" y="533775"/>
            <a:ext cx="96012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en-US" sz="3600"/>
              <a:t>Recommendations to Reduce Customer Churn</a:t>
            </a:r>
            <a:endParaRPr sz="3600"/>
          </a:p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1371600" y="1432800"/>
            <a:ext cx="9601200" cy="52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b="1" lang="en-US"/>
              <a:t>Quick Wins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lang="en-US"/>
              <a:t>Personalize offers for </a:t>
            </a:r>
            <a:r>
              <a:rPr b="1" lang="en-US"/>
              <a:t>Monthly</a:t>
            </a:r>
            <a:r>
              <a:rPr lang="en-US"/>
              <a:t> and </a:t>
            </a:r>
            <a:r>
              <a:rPr b="1" lang="en-US"/>
              <a:t>Trial</a:t>
            </a:r>
            <a:r>
              <a:rPr lang="en-US"/>
              <a:t> subscribers (discounts, loyalty points)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lang="en-US"/>
              <a:t>Send </a:t>
            </a:r>
            <a:r>
              <a:rPr b="1" lang="en-US"/>
              <a:t>engagement reminders</a:t>
            </a:r>
            <a:r>
              <a:rPr lang="en-US"/>
              <a:t> via Email/SMS before subscription renewal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lang="en-US"/>
              <a:t>Collect feedback from churned customers to </a:t>
            </a:r>
            <a:r>
              <a:rPr b="1" lang="en-US"/>
              <a:t>improve service quality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br>
              <a:rPr lang="en-US"/>
            </a:b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b="1" lang="en-US"/>
              <a:t>Long-term Strategies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lang="en-US"/>
              <a:t>Implement </a:t>
            </a:r>
            <a:r>
              <a:rPr b="1" lang="en-US"/>
              <a:t>gamification / loyalty programs</a:t>
            </a:r>
            <a:r>
              <a:rPr lang="en-US"/>
              <a:t> (points, badges, rewards)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lang="en-US"/>
              <a:t>Offer </a:t>
            </a:r>
            <a:r>
              <a:rPr b="1" lang="en-US"/>
              <a:t>subscription bundles</a:t>
            </a:r>
            <a:r>
              <a:rPr lang="en-US"/>
              <a:t> to encourage upgrades (Annual / Quarterly plans)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lang="en-US"/>
              <a:t>Strengthen </a:t>
            </a:r>
            <a:r>
              <a:rPr b="1" lang="en-US"/>
              <a:t>customer support</a:t>
            </a:r>
            <a:r>
              <a:rPr lang="en-US"/>
              <a:t> for high-value subscribers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br>
              <a:rPr lang="en-US"/>
            </a:b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b="1" lang="en-US"/>
              <a:t>Monitoring &amp; Analysis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lang="en-US"/>
              <a:t>Track </a:t>
            </a:r>
            <a:r>
              <a:rPr b="1" lang="en-US"/>
              <a:t>monthly churn trends</a:t>
            </a:r>
            <a:r>
              <a:rPr lang="en-US"/>
              <a:t>, age groups, and subscription types regularly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■"/>
            </a:pPr>
            <a:r>
              <a:rPr lang="en-US"/>
              <a:t>Measure </a:t>
            </a:r>
            <a:r>
              <a:rPr b="1" lang="en-US"/>
              <a:t>effectiveness of retention campaigns</a:t>
            </a:r>
            <a:r>
              <a:rPr lang="en-US"/>
              <a:t> and adjust strategy</a:t>
            </a:r>
            <a:endParaRPr/>
          </a:p>
          <a:p>
            <a:pPr indent="-266573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op">
  <a:themeElements>
    <a:clrScheme name="Crop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2025-11-10T09:00:14Z</dcterms:created>
  <dc:creator>RAM PAIN RELIEF PHYSIOTHERAPY CLINIC</dc:creator>
</cp:coreProperties>
</file>