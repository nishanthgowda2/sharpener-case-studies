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4.xml"/>
  <Override ContentType="application/vnd.ms-office.chartcolorstyle+xml" PartName="/ppt/charts/colors1.xml"/>
  <Override ContentType="application/vnd.ms-office.chartcolorstyle+xml" PartName="/ppt/charts/colors2.xml"/>
  <Override ContentType="application/vnd.ms-office.chartcolorstyle+xml" PartName="/ppt/charts/colors3.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4.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4.xml"/>
  <Override ContentType="application/vnd.ms-office.chartstyle+xml" PartName="/ppt/charts/style1.xml"/>
  <Override ContentType="application/vnd.ms-office.chartstyle+xml" PartName="/ppt/charts/style2.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9144000"/>
  <p:embeddedFontLst>
    <p:embeddedFont>
      <p:font typeface="Libre Franklin"/>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hSq8SSuEBWNxIop9I96YkwWFPZ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LibreFranklin-bold.fntdata"/><Relationship Id="rId12" Type="http://schemas.openxmlformats.org/officeDocument/2006/relationships/font" Target="fonts/LibreFranklin-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LibreFranklin-boldItalic.fntdata"/><Relationship Id="rId14" Type="http://schemas.openxmlformats.org/officeDocument/2006/relationships/font" Target="fonts/LibreFranklin-italic.fntdata"/><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d.docs.live.net/39e242b75272e33c/Documents/glowup_campaigns_4csv.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https://d.docs.live.net/39e242b75272e33c/Documents/glowup_campaigns_4csv.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https://d.docs.live.net/39e242b75272e33c/Documents/glowup_campaigns_4csv.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https://d.docs.live.net/39e242b75272e33c/Documents/glowup_campaigns_4csv.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[glowup_campaigns_4csv.xlsx]ROI by Campaign!PivotTable1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898208155850016"/>
          <c:y val="0.12581766752808707"/>
          <c:w val="0.83163494847747998"/>
          <c:h val="0.75363234167706505"/>
        </c:manualLayout>
      </c:layout>
      <c:barChart>
        <c:barDir val="col"/>
        <c:grouping val="clustered"/>
        <c:varyColors val="0"/>
        <c:ser>
          <c:idx val="0"/>
          <c:order val="0"/>
          <c:tx>
            <c:strRef>
              <c:f>'ROI by Campaign'!$B$3</c:f>
              <c:strCache>
                <c:ptCount val="1"/>
                <c:pt idx="0">
                  <c:v>Total</c:v>
                </c:pt>
              </c:strCache>
            </c:strRef>
          </c:tx>
          <c:spPr>
            <a:solidFill>
              <a:schemeClr val="accent1"/>
            </a:solidFill>
            <a:ln>
              <a:noFill/>
            </a:ln>
            <a:effectLst/>
          </c:spPr>
          <c:invertIfNegative val="0"/>
          <c:cat>
            <c:strRef>
              <c:f>'ROI by Campaign'!$A$4:$A$18</c:f>
              <c:strCache>
                <c:ptCount val="15"/>
                <c:pt idx="0">
                  <c:v>Campaign 1</c:v>
                </c:pt>
                <c:pt idx="1">
                  <c:v>Campaign 10</c:v>
                </c:pt>
                <c:pt idx="2">
                  <c:v>Campaign 11</c:v>
                </c:pt>
                <c:pt idx="3">
                  <c:v>Campaign 12</c:v>
                </c:pt>
                <c:pt idx="4">
                  <c:v>Campaign 13</c:v>
                </c:pt>
                <c:pt idx="5">
                  <c:v>Campaign 14</c:v>
                </c:pt>
                <c:pt idx="6">
                  <c:v>Campaign 15</c:v>
                </c:pt>
                <c:pt idx="7">
                  <c:v>Campaign 2</c:v>
                </c:pt>
                <c:pt idx="8">
                  <c:v>Campaign 3</c:v>
                </c:pt>
                <c:pt idx="9">
                  <c:v>Campaign 4</c:v>
                </c:pt>
                <c:pt idx="10">
                  <c:v>Campaign 5</c:v>
                </c:pt>
                <c:pt idx="11">
                  <c:v>Campaign 6</c:v>
                </c:pt>
                <c:pt idx="12">
                  <c:v>Campaign 7</c:v>
                </c:pt>
                <c:pt idx="13">
                  <c:v>Campaign 8</c:v>
                </c:pt>
                <c:pt idx="14">
                  <c:v>Campaign 9</c:v>
                </c:pt>
              </c:strCache>
            </c:strRef>
          </c:cat>
          <c:val>
            <c:numRef>
              <c:f>'ROI by Campaign'!$B$4:$B$18</c:f>
              <c:numCache>
                <c:formatCode>0.00%</c:formatCode>
                <c:ptCount val="15"/>
                <c:pt idx="0">
                  <c:v>52852.763798860091</c:v>
                </c:pt>
                <c:pt idx="1">
                  <c:v>35400.080556191118</c:v>
                </c:pt>
                <c:pt idx="2">
                  <c:v>47969.380758323539</c:v>
                </c:pt>
                <c:pt idx="3">
                  <c:v>36498.760175025811</c:v>
                </c:pt>
                <c:pt idx="4">
                  <c:v>40440.915825189157</c:v>
                </c:pt>
                <c:pt idx="5">
                  <c:v>80582.804962804192</c:v>
                </c:pt>
                <c:pt idx="6">
                  <c:v>58768.826614608333</c:v>
                </c:pt>
                <c:pt idx="7">
                  <c:v>44505.702414155559</c:v>
                </c:pt>
                <c:pt idx="8">
                  <c:v>60311.129149683853</c:v>
                </c:pt>
                <c:pt idx="9">
                  <c:v>40664.378616825867</c:v>
                </c:pt>
                <c:pt idx="10">
                  <c:v>63241.263278514234</c:v>
                </c:pt>
                <c:pt idx="11">
                  <c:v>37247.612720669509</c:v>
                </c:pt>
                <c:pt idx="12">
                  <c:v>41002.585070030706</c:v>
                </c:pt>
                <c:pt idx="13">
                  <c:v>49936.03168923709</c:v>
                </c:pt>
                <c:pt idx="14">
                  <c:v>47660.914085690689</c:v>
                </c:pt>
              </c:numCache>
            </c:numRef>
          </c:val>
          <c:extLst>
            <c:ext xmlns:c16="http://schemas.microsoft.com/office/drawing/2014/chart" uri="{C3380CC4-5D6E-409C-BE32-E72D297353CC}">
              <c16:uniqueId val="{00000000-71A5-4EE1-8CF0-207D29DD25D0}"/>
            </c:ext>
          </c:extLst>
        </c:ser>
        <c:dLbls>
          <c:showLegendKey val="0"/>
          <c:showVal val="0"/>
          <c:showCatName val="0"/>
          <c:showSerName val="0"/>
          <c:showPercent val="0"/>
          <c:showBubbleSize val="0"/>
        </c:dLbls>
        <c:gapWidth val="219"/>
        <c:overlap val="-27"/>
        <c:axId val="1664449168"/>
        <c:axId val="1664456368"/>
      </c:barChart>
      <c:catAx>
        <c:axId val="1664449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4456368"/>
        <c:crosses val="autoZero"/>
        <c:auto val="1"/>
        <c:lblAlgn val="ctr"/>
        <c:lblOffset val="100"/>
        <c:noMultiLvlLbl val="0"/>
      </c:catAx>
      <c:valAx>
        <c:axId val="16644563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444916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[glowup_campaigns_4csv.xlsx] Conversions by Channel!PivotTable2</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 Conversions by Channel'!$B$3</c:f>
              <c:strCache>
                <c:ptCount val="1"/>
                <c:pt idx="0">
                  <c:v>Total</c:v>
                </c:pt>
              </c:strCache>
            </c:strRef>
          </c:tx>
          <c:spPr>
            <a:solidFill>
              <a:schemeClr val="accent1"/>
            </a:solidFill>
            <a:ln>
              <a:noFill/>
            </a:ln>
            <a:effectLst/>
          </c:spPr>
          <c:invertIfNegative val="0"/>
          <c:cat>
            <c:strRef>
              <c:f>' Conversions by Channel'!$A$4:$A$7</c:f>
              <c:strCache>
                <c:ptCount val="4"/>
                <c:pt idx="0">
                  <c:v>Email</c:v>
                </c:pt>
                <c:pt idx="1">
                  <c:v>Events</c:v>
                </c:pt>
                <c:pt idx="2">
                  <c:v>Influencer</c:v>
                </c:pt>
                <c:pt idx="3">
                  <c:v>Social Media</c:v>
                </c:pt>
              </c:strCache>
            </c:strRef>
          </c:cat>
          <c:val>
            <c:numRef>
              <c:f>' Conversions by Channel'!$B$4:$B$7</c:f>
              <c:numCache>
                <c:formatCode>General</c:formatCode>
                <c:ptCount val="4"/>
                <c:pt idx="0">
                  <c:v>59730</c:v>
                </c:pt>
                <c:pt idx="1">
                  <c:v>56917</c:v>
                </c:pt>
                <c:pt idx="2">
                  <c:v>63889</c:v>
                </c:pt>
                <c:pt idx="3">
                  <c:v>64480</c:v>
                </c:pt>
              </c:numCache>
            </c:numRef>
          </c:val>
          <c:extLst>
            <c:ext xmlns:c16="http://schemas.microsoft.com/office/drawing/2014/chart" uri="{C3380CC4-5D6E-409C-BE32-E72D297353CC}">
              <c16:uniqueId val="{00000000-EAB7-4E3D-A4EC-6744DF94C7FE}"/>
            </c:ext>
          </c:extLst>
        </c:ser>
        <c:dLbls>
          <c:showLegendKey val="0"/>
          <c:showVal val="0"/>
          <c:showCatName val="0"/>
          <c:showSerName val="0"/>
          <c:showPercent val="0"/>
          <c:showBubbleSize val="0"/>
        </c:dLbls>
        <c:gapWidth val="150"/>
        <c:overlap val="100"/>
        <c:axId val="2055177120"/>
        <c:axId val="2055158400"/>
      </c:barChart>
      <c:catAx>
        <c:axId val="2055177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5158400"/>
        <c:crosses val="autoZero"/>
        <c:auto val="1"/>
        <c:lblAlgn val="ctr"/>
        <c:lblOffset val="100"/>
        <c:noMultiLvlLbl val="0"/>
      </c:catAx>
      <c:valAx>
        <c:axId val="20551584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51771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[glowup_campaigns_4csv.xlsx]Spend vs Revenue!PivotTable3</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'Spend vs Revenue'!$B$3</c:f>
              <c:strCache>
                <c:ptCount val="1"/>
                <c:pt idx="0">
                  <c:v>Sum of Spend</c:v>
                </c:pt>
              </c:strCache>
            </c:strRef>
          </c:tx>
          <c:spPr>
            <a:solidFill>
              <a:schemeClr val="accent1"/>
            </a:solidFill>
            <a:ln>
              <a:noFill/>
            </a:ln>
            <a:effectLst/>
          </c:spPr>
          <c:invertIfNegative val="0"/>
          <c:cat>
            <c:strRef>
              <c:f>'Spend vs Revenue'!$A$4:$A$18</c:f>
              <c:strCache>
                <c:ptCount val="15"/>
                <c:pt idx="0">
                  <c:v>Campaign 1</c:v>
                </c:pt>
                <c:pt idx="1">
                  <c:v>Campaign 10</c:v>
                </c:pt>
                <c:pt idx="2">
                  <c:v>Campaign 11</c:v>
                </c:pt>
                <c:pt idx="3">
                  <c:v>Campaign 12</c:v>
                </c:pt>
                <c:pt idx="4">
                  <c:v>Campaign 13</c:v>
                </c:pt>
                <c:pt idx="5">
                  <c:v>Campaign 14</c:v>
                </c:pt>
                <c:pt idx="6">
                  <c:v>Campaign 15</c:v>
                </c:pt>
                <c:pt idx="7">
                  <c:v>Campaign 2</c:v>
                </c:pt>
                <c:pt idx="8">
                  <c:v>Campaign 3</c:v>
                </c:pt>
                <c:pt idx="9">
                  <c:v>Campaign 4</c:v>
                </c:pt>
                <c:pt idx="10">
                  <c:v>Campaign 5</c:v>
                </c:pt>
                <c:pt idx="11">
                  <c:v>Campaign 6</c:v>
                </c:pt>
                <c:pt idx="12">
                  <c:v>Campaign 7</c:v>
                </c:pt>
                <c:pt idx="13">
                  <c:v>Campaign 8</c:v>
                </c:pt>
                <c:pt idx="14">
                  <c:v>Campaign 9</c:v>
                </c:pt>
              </c:strCache>
            </c:strRef>
          </c:cat>
          <c:val>
            <c:numRef>
              <c:f>'Spend vs Revenue'!$B$4:$B$18</c:f>
              <c:numCache>
                <c:formatCode>General</c:formatCode>
                <c:ptCount val="15"/>
                <c:pt idx="0">
                  <c:v>1774587.7599999998</c:v>
                </c:pt>
                <c:pt idx="1">
                  <c:v>1713216.64</c:v>
                </c:pt>
                <c:pt idx="2">
                  <c:v>2020550.1699999997</c:v>
                </c:pt>
                <c:pt idx="3">
                  <c:v>1219560.7500000002</c:v>
                </c:pt>
                <c:pt idx="4">
                  <c:v>1730673.5700000003</c:v>
                </c:pt>
                <c:pt idx="5">
                  <c:v>1743327.2200000004</c:v>
                </c:pt>
                <c:pt idx="6">
                  <c:v>1625752.5600000008</c:v>
                </c:pt>
                <c:pt idx="7">
                  <c:v>1816731.8300000005</c:v>
                </c:pt>
                <c:pt idx="8">
                  <c:v>1695366.3500000006</c:v>
                </c:pt>
                <c:pt idx="9">
                  <c:v>1483391.66</c:v>
                </c:pt>
                <c:pt idx="10">
                  <c:v>1786269.7499999995</c:v>
                </c:pt>
                <c:pt idx="11">
                  <c:v>1852152.860000001</c:v>
                </c:pt>
                <c:pt idx="12">
                  <c:v>1671743.25</c:v>
                </c:pt>
                <c:pt idx="13">
                  <c:v>2061053.0799999998</c:v>
                </c:pt>
                <c:pt idx="14">
                  <c:v>1611463.4500000007</c:v>
                </c:pt>
              </c:numCache>
            </c:numRef>
          </c:val>
          <c:extLst>
            <c:ext xmlns:c16="http://schemas.microsoft.com/office/drawing/2014/chart" uri="{C3380CC4-5D6E-409C-BE32-E72D297353CC}">
              <c16:uniqueId val="{00000000-F958-4795-B100-C5A18B34D4AD}"/>
            </c:ext>
          </c:extLst>
        </c:ser>
        <c:ser>
          <c:idx val="1"/>
          <c:order val="1"/>
          <c:tx>
            <c:strRef>
              <c:f>'Spend vs Revenue'!$C$3</c:f>
              <c:strCache>
                <c:ptCount val="1"/>
                <c:pt idx="0">
                  <c:v>Sum of RevenueGenerated</c:v>
                </c:pt>
              </c:strCache>
            </c:strRef>
          </c:tx>
          <c:spPr>
            <a:solidFill>
              <a:schemeClr val="accent2"/>
            </a:solidFill>
            <a:ln>
              <a:noFill/>
            </a:ln>
            <a:effectLst/>
          </c:spPr>
          <c:invertIfNegative val="0"/>
          <c:cat>
            <c:strRef>
              <c:f>'Spend vs Revenue'!$A$4:$A$18</c:f>
              <c:strCache>
                <c:ptCount val="15"/>
                <c:pt idx="0">
                  <c:v>Campaign 1</c:v>
                </c:pt>
                <c:pt idx="1">
                  <c:v>Campaign 10</c:v>
                </c:pt>
                <c:pt idx="2">
                  <c:v>Campaign 11</c:v>
                </c:pt>
                <c:pt idx="3">
                  <c:v>Campaign 12</c:v>
                </c:pt>
                <c:pt idx="4">
                  <c:v>Campaign 13</c:v>
                </c:pt>
                <c:pt idx="5">
                  <c:v>Campaign 14</c:v>
                </c:pt>
                <c:pt idx="6">
                  <c:v>Campaign 15</c:v>
                </c:pt>
                <c:pt idx="7">
                  <c:v>Campaign 2</c:v>
                </c:pt>
                <c:pt idx="8">
                  <c:v>Campaign 3</c:v>
                </c:pt>
                <c:pt idx="9">
                  <c:v>Campaign 4</c:v>
                </c:pt>
                <c:pt idx="10">
                  <c:v>Campaign 5</c:v>
                </c:pt>
                <c:pt idx="11">
                  <c:v>Campaign 6</c:v>
                </c:pt>
                <c:pt idx="12">
                  <c:v>Campaign 7</c:v>
                </c:pt>
                <c:pt idx="13">
                  <c:v>Campaign 8</c:v>
                </c:pt>
                <c:pt idx="14">
                  <c:v>Campaign 9</c:v>
                </c:pt>
              </c:strCache>
            </c:strRef>
          </c:cat>
          <c:val>
            <c:numRef>
              <c:f>'Spend vs Revenue'!$C$4:$C$18</c:f>
              <c:numCache>
                <c:formatCode>General</c:formatCode>
                <c:ptCount val="15"/>
                <c:pt idx="0">
                  <c:v>7723655.3500000071</c:v>
                </c:pt>
                <c:pt idx="1">
                  <c:v>6572893.879999999</c:v>
                </c:pt>
                <c:pt idx="2">
                  <c:v>6571933.120000001</c:v>
                </c:pt>
                <c:pt idx="3">
                  <c:v>5245145.4800000004</c:v>
                </c:pt>
                <c:pt idx="4">
                  <c:v>6930386.1399999978</c:v>
                </c:pt>
                <c:pt idx="5">
                  <c:v>7540790.1799999997</c:v>
                </c:pt>
                <c:pt idx="6">
                  <c:v>6962335.530000004</c:v>
                </c:pt>
                <c:pt idx="7">
                  <c:v>7152527.2999999998</c:v>
                </c:pt>
                <c:pt idx="8">
                  <c:v>6567584.2500000037</c:v>
                </c:pt>
                <c:pt idx="9">
                  <c:v>6353659.4200000018</c:v>
                </c:pt>
                <c:pt idx="10">
                  <c:v>7701212.8200000003</c:v>
                </c:pt>
                <c:pt idx="11">
                  <c:v>6066144.4900000012</c:v>
                </c:pt>
                <c:pt idx="12">
                  <c:v>6265904.8500000015</c:v>
                </c:pt>
                <c:pt idx="13">
                  <c:v>7948605.3999999966</c:v>
                </c:pt>
                <c:pt idx="14">
                  <c:v>5849021.799999998</c:v>
                </c:pt>
              </c:numCache>
            </c:numRef>
          </c:val>
          <c:extLst>
            <c:ext xmlns:c16="http://schemas.microsoft.com/office/drawing/2014/chart" uri="{C3380CC4-5D6E-409C-BE32-E72D297353CC}">
              <c16:uniqueId val="{00000001-F958-4795-B100-C5A18B34D4AD}"/>
            </c:ext>
          </c:extLst>
        </c:ser>
        <c:dLbls>
          <c:showLegendKey val="0"/>
          <c:showVal val="0"/>
          <c:showCatName val="0"/>
          <c:showSerName val="0"/>
          <c:showPercent val="0"/>
          <c:showBubbleSize val="0"/>
        </c:dLbls>
        <c:gapWidth val="219"/>
        <c:overlap val="-27"/>
        <c:axId val="2055170880"/>
        <c:axId val="2055156000"/>
      </c:barChart>
      <c:catAx>
        <c:axId val="2055170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5156000"/>
        <c:crosses val="autoZero"/>
        <c:auto val="1"/>
        <c:lblAlgn val="ctr"/>
        <c:lblOffset val="100"/>
        <c:noMultiLvlLbl val="0"/>
      </c:catAx>
      <c:valAx>
        <c:axId val="20551560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51708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[glowup_campaigns_4csv.xlsx]Leads vs Conversions!PivotTable4</c:name>
    <c:fmtId val="3"/>
  </c:pivotSource>
  <c:chart>
    <c:autoTitleDeleted val="1"/>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'Leads vs Conversions'!$B$3</c:f>
              <c:strCache>
                <c:ptCount val="1"/>
                <c:pt idx="0">
                  <c:v>Sum of Conversion</c:v>
                </c:pt>
              </c:strCache>
            </c:strRef>
          </c:tx>
          <c:spPr>
            <a:solidFill>
              <a:schemeClr val="accent1"/>
            </a:solidFill>
            <a:ln>
              <a:noFill/>
            </a:ln>
            <a:effectLst/>
            <a:sp3d/>
          </c:spPr>
          <c:invertIfNegative val="0"/>
          <c:cat>
            <c:strRef>
              <c:f>'Leads vs Conversions'!$A$4:$A$18</c:f>
              <c:strCache>
                <c:ptCount val="15"/>
                <c:pt idx="0">
                  <c:v>Campaign 1</c:v>
                </c:pt>
                <c:pt idx="1">
                  <c:v>Campaign 10</c:v>
                </c:pt>
                <c:pt idx="2">
                  <c:v>Campaign 11</c:v>
                </c:pt>
                <c:pt idx="3">
                  <c:v>Campaign 12</c:v>
                </c:pt>
                <c:pt idx="4">
                  <c:v>Campaign 13</c:v>
                </c:pt>
                <c:pt idx="5">
                  <c:v>Campaign 14</c:v>
                </c:pt>
                <c:pt idx="6">
                  <c:v>Campaign 15</c:v>
                </c:pt>
                <c:pt idx="7">
                  <c:v>Campaign 2</c:v>
                </c:pt>
                <c:pt idx="8">
                  <c:v>Campaign 3</c:v>
                </c:pt>
                <c:pt idx="9">
                  <c:v>Campaign 4</c:v>
                </c:pt>
                <c:pt idx="10">
                  <c:v>Campaign 5</c:v>
                </c:pt>
                <c:pt idx="11">
                  <c:v>Campaign 6</c:v>
                </c:pt>
                <c:pt idx="12">
                  <c:v>Campaign 7</c:v>
                </c:pt>
                <c:pt idx="13">
                  <c:v>Campaign 8</c:v>
                </c:pt>
                <c:pt idx="14">
                  <c:v>Campaign 9</c:v>
                </c:pt>
              </c:strCache>
            </c:strRef>
          </c:cat>
          <c:val>
            <c:numRef>
              <c:f>'Leads vs Conversions'!$B$4:$B$18</c:f>
              <c:numCache>
                <c:formatCode>General</c:formatCode>
                <c:ptCount val="15"/>
                <c:pt idx="0">
                  <c:v>18158</c:v>
                </c:pt>
                <c:pt idx="1">
                  <c:v>16458</c:v>
                </c:pt>
                <c:pt idx="2">
                  <c:v>16565</c:v>
                </c:pt>
                <c:pt idx="3">
                  <c:v>12528</c:v>
                </c:pt>
                <c:pt idx="4">
                  <c:v>16023</c:v>
                </c:pt>
                <c:pt idx="5">
                  <c:v>16663</c:v>
                </c:pt>
                <c:pt idx="6">
                  <c:v>16201</c:v>
                </c:pt>
                <c:pt idx="7">
                  <c:v>19269</c:v>
                </c:pt>
                <c:pt idx="8">
                  <c:v>16456</c:v>
                </c:pt>
                <c:pt idx="9">
                  <c:v>14689</c:v>
                </c:pt>
                <c:pt idx="10">
                  <c:v>17691</c:v>
                </c:pt>
                <c:pt idx="11">
                  <c:v>14544</c:v>
                </c:pt>
                <c:pt idx="12">
                  <c:v>15176</c:v>
                </c:pt>
                <c:pt idx="13">
                  <c:v>18836</c:v>
                </c:pt>
                <c:pt idx="14">
                  <c:v>15759</c:v>
                </c:pt>
              </c:numCache>
            </c:numRef>
          </c:val>
          <c:extLst>
            <c:ext xmlns:c16="http://schemas.microsoft.com/office/drawing/2014/chart" uri="{C3380CC4-5D6E-409C-BE32-E72D297353CC}">
              <c16:uniqueId val="{00000000-58F1-476E-B29A-6F7C2978245B}"/>
            </c:ext>
          </c:extLst>
        </c:ser>
        <c:ser>
          <c:idx val="1"/>
          <c:order val="1"/>
          <c:tx>
            <c:strRef>
              <c:f>'Leads vs Conversions'!$C$3</c:f>
              <c:strCache>
                <c:ptCount val="1"/>
                <c:pt idx="0">
                  <c:v>Sum of LeadsGenerated</c:v>
                </c:pt>
              </c:strCache>
            </c:strRef>
          </c:tx>
          <c:spPr>
            <a:solidFill>
              <a:schemeClr val="accent2"/>
            </a:solidFill>
            <a:ln>
              <a:noFill/>
            </a:ln>
            <a:effectLst/>
            <a:sp3d/>
          </c:spPr>
          <c:invertIfNegative val="0"/>
          <c:cat>
            <c:strRef>
              <c:f>'Leads vs Conversions'!$A$4:$A$18</c:f>
              <c:strCache>
                <c:ptCount val="15"/>
                <c:pt idx="0">
                  <c:v>Campaign 1</c:v>
                </c:pt>
                <c:pt idx="1">
                  <c:v>Campaign 10</c:v>
                </c:pt>
                <c:pt idx="2">
                  <c:v>Campaign 11</c:v>
                </c:pt>
                <c:pt idx="3">
                  <c:v>Campaign 12</c:v>
                </c:pt>
                <c:pt idx="4">
                  <c:v>Campaign 13</c:v>
                </c:pt>
                <c:pt idx="5">
                  <c:v>Campaign 14</c:v>
                </c:pt>
                <c:pt idx="6">
                  <c:v>Campaign 15</c:v>
                </c:pt>
                <c:pt idx="7">
                  <c:v>Campaign 2</c:v>
                </c:pt>
                <c:pt idx="8">
                  <c:v>Campaign 3</c:v>
                </c:pt>
                <c:pt idx="9">
                  <c:v>Campaign 4</c:v>
                </c:pt>
                <c:pt idx="10">
                  <c:v>Campaign 5</c:v>
                </c:pt>
                <c:pt idx="11">
                  <c:v>Campaign 6</c:v>
                </c:pt>
                <c:pt idx="12">
                  <c:v>Campaign 7</c:v>
                </c:pt>
                <c:pt idx="13">
                  <c:v>Campaign 8</c:v>
                </c:pt>
                <c:pt idx="14">
                  <c:v>Campaign 9</c:v>
                </c:pt>
              </c:strCache>
            </c:strRef>
          </c:cat>
          <c:val>
            <c:numRef>
              <c:f>'Leads vs Conversions'!$C$4:$C$18</c:f>
              <c:numCache>
                <c:formatCode>General</c:formatCode>
                <c:ptCount val="15"/>
                <c:pt idx="0">
                  <c:v>75213</c:v>
                </c:pt>
                <c:pt idx="1">
                  <c:v>63597</c:v>
                </c:pt>
                <c:pt idx="2">
                  <c:v>77467</c:v>
                </c:pt>
                <c:pt idx="3">
                  <c:v>51230</c:v>
                </c:pt>
                <c:pt idx="4">
                  <c:v>69708</c:v>
                </c:pt>
                <c:pt idx="5">
                  <c:v>79898</c:v>
                </c:pt>
                <c:pt idx="6">
                  <c:v>67339</c:v>
                </c:pt>
                <c:pt idx="7">
                  <c:v>68723</c:v>
                </c:pt>
                <c:pt idx="8">
                  <c:v>68957</c:v>
                </c:pt>
                <c:pt idx="9">
                  <c:v>57377</c:v>
                </c:pt>
                <c:pt idx="10">
                  <c:v>80448</c:v>
                </c:pt>
                <c:pt idx="11">
                  <c:v>64248</c:v>
                </c:pt>
                <c:pt idx="12">
                  <c:v>66370</c:v>
                </c:pt>
                <c:pt idx="13">
                  <c:v>90565</c:v>
                </c:pt>
                <c:pt idx="14">
                  <c:v>69979</c:v>
                </c:pt>
              </c:numCache>
            </c:numRef>
          </c:val>
          <c:extLst>
            <c:ext xmlns:c16="http://schemas.microsoft.com/office/drawing/2014/chart" uri="{C3380CC4-5D6E-409C-BE32-E72D297353CC}">
              <c16:uniqueId val="{00000001-58F1-476E-B29A-6F7C2978245B}"/>
            </c:ext>
          </c:extLst>
        </c:ser>
        <c:dLbls>
          <c:showLegendKey val="0"/>
          <c:showVal val="0"/>
          <c:showCatName val="0"/>
          <c:showSerName val="0"/>
          <c:showPercent val="0"/>
          <c:showBubbleSize val="0"/>
        </c:dLbls>
        <c:gapWidth val="150"/>
        <c:shape val="box"/>
        <c:axId val="2055180960"/>
        <c:axId val="2055181440"/>
        <c:axId val="0"/>
      </c:bar3DChart>
      <c:catAx>
        <c:axId val="205518096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5181440"/>
        <c:crosses val="autoZero"/>
        <c:auto val="1"/>
        <c:lblAlgn val="ctr"/>
        <c:lblOffset val="100"/>
        <c:noMultiLvlLbl val="0"/>
      </c:catAx>
      <c:valAx>
        <c:axId val="2055181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518096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3" name="Shape 13"/>
        <p:cNvGrpSpPr/>
        <p:nvPr/>
      </p:nvGrpSpPr>
      <p:grpSpPr>
        <a:xfrm>
          <a:off x="0" y="0"/>
          <a:ext cx="0" cy="0"/>
          <a:chOff x="0" y="0"/>
          <a:chExt cx="0" cy="0"/>
        </a:xfrm>
      </p:grpSpPr>
      <p:sp>
        <p:nvSpPr>
          <p:cNvPr id="14" name="Google Shape;14;p9"/>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9"/>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2626"/>
              </a:buClr>
              <a:buSzPts val="8000"/>
              <a:buFont typeface="Bookman Old Style"/>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9"/>
          <p:cNvSpPr txBox="1"/>
          <p:nvPr>
            <p:ph idx="1" type="subTitle"/>
          </p:nvPr>
        </p:nvSpPr>
        <p:spPr>
          <a:xfrm>
            <a:off x="1100051" y="4645152"/>
            <a:ext cx="10058400" cy="1143000"/>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200"/>
              </a:spcBef>
              <a:spcAft>
                <a:spcPts val="0"/>
              </a:spcAft>
              <a:buSzPts val="2400"/>
              <a:buNone/>
              <a:defRPr sz="2400" cap="none">
                <a:solidFill>
                  <a:schemeClr val="dk1"/>
                </a:solidFill>
                <a:latin typeface="Libre Franklin"/>
                <a:ea typeface="Libre Franklin"/>
                <a:cs typeface="Libre Franklin"/>
                <a:sym typeface="Libre Franklin"/>
              </a:defRPr>
            </a:lvl1pPr>
            <a:lvl2pPr lvl="1" algn="ctr">
              <a:lnSpc>
                <a:spcPct val="100000"/>
              </a:lnSpc>
              <a:spcBef>
                <a:spcPts val="200"/>
              </a:spcBef>
              <a:spcAft>
                <a:spcPts val="0"/>
              </a:spcAft>
              <a:buClr>
                <a:srgbClr val="3F3F3F"/>
              </a:buClr>
              <a:buSzPts val="2400"/>
              <a:buNone/>
              <a:defRPr sz="2400"/>
            </a:lvl2pPr>
            <a:lvl3pPr lvl="2" algn="ctr">
              <a:lnSpc>
                <a:spcPct val="100000"/>
              </a:lnSpc>
              <a:spcBef>
                <a:spcPts val="400"/>
              </a:spcBef>
              <a:spcAft>
                <a:spcPts val="0"/>
              </a:spcAft>
              <a:buClr>
                <a:srgbClr val="3F3F3F"/>
              </a:buClr>
              <a:buSzPts val="2400"/>
              <a:buNone/>
              <a:defRPr sz="2400"/>
            </a:lvl3pPr>
            <a:lvl4pPr lvl="3" algn="ctr">
              <a:lnSpc>
                <a:spcPct val="100000"/>
              </a:lnSpc>
              <a:spcBef>
                <a:spcPts val="400"/>
              </a:spcBef>
              <a:spcAft>
                <a:spcPts val="0"/>
              </a:spcAft>
              <a:buClr>
                <a:srgbClr val="3F3F3F"/>
              </a:buClr>
              <a:buSzPts val="2000"/>
              <a:buNone/>
              <a:defRPr sz="2000"/>
            </a:lvl4pPr>
            <a:lvl5pPr lvl="4" algn="ctr">
              <a:lnSpc>
                <a:spcPct val="100000"/>
              </a:lnSpc>
              <a:spcBef>
                <a:spcPts val="400"/>
              </a:spcBef>
              <a:spcAft>
                <a:spcPts val="0"/>
              </a:spcAft>
              <a:buClr>
                <a:srgbClr val="3F3F3F"/>
              </a:buClr>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cxnSp>
        <p:nvCxnSpPr>
          <p:cNvPr id="17" name="Google Shape;17;p9"/>
          <p:cNvCxnSpPr/>
          <p:nvPr/>
        </p:nvCxnSpPr>
        <p:spPr>
          <a:xfrm>
            <a:off x="1207658" y="4474741"/>
            <a:ext cx="9875520" cy="0"/>
          </a:xfrm>
          <a:prstGeom prst="straightConnector1">
            <a:avLst/>
          </a:prstGeom>
          <a:noFill/>
          <a:ln cap="flat" cmpd="sng" w="12700">
            <a:solidFill>
              <a:srgbClr val="3F3F3F"/>
            </a:solidFill>
            <a:prstDash val="solid"/>
            <a:round/>
            <a:headEnd len="sm" w="sm" type="none"/>
            <a:tailEnd len="sm" w="sm" type="none"/>
          </a:ln>
        </p:spPr>
      </p:cxnSp>
      <p:sp>
        <p:nvSpPr>
          <p:cNvPr id="18" name="Google Shape;18;p9"/>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0"/>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4" name="Google Shape;24;p10"/>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0"/>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27" name="Shape 27"/>
        <p:cNvGrpSpPr/>
        <p:nvPr/>
      </p:nvGrpSpPr>
      <p:grpSpPr>
        <a:xfrm>
          <a:off x="0" y="0"/>
          <a:ext cx="0" cy="0"/>
          <a:chOff x="0" y="0"/>
          <a:chExt cx="0" cy="0"/>
        </a:xfrm>
      </p:grpSpPr>
      <p:sp>
        <p:nvSpPr>
          <p:cNvPr id="28" name="Google Shape;28;p11"/>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1"/>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2626"/>
              </a:buClr>
              <a:buSzPts val="8000"/>
              <a:buFont typeface="Bookman Old Style"/>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1"/>
          <p:cNvSpPr txBox="1"/>
          <p:nvPr>
            <p:ph idx="1" type="body"/>
          </p:nvPr>
        </p:nvSpPr>
        <p:spPr>
          <a:xfrm>
            <a:off x="1097280" y="4663440"/>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200"/>
              </a:spcBef>
              <a:spcAft>
                <a:spcPts val="0"/>
              </a:spcAft>
              <a:buSzPts val="2400"/>
              <a:buNone/>
              <a:defRPr sz="2400" cap="none">
                <a:solidFill>
                  <a:schemeClr val="dk1"/>
                </a:solidFill>
                <a:latin typeface="Libre Franklin"/>
                <a:ea typeface="Libre Franklin"/>
                <a:cs typeface="Libre Franklin"/>
                <a:sym typeface="Libre Franklin"/>
              </a:defRPr>
            </a:lvl1pPr>
            <a:lvl2pPr indent="-228600" lvl="1" marL="914400" algn="l">
              <a:lnSpc>
                <a:spcPct val="100000"/>
              </a:lnSpc>
              <a:spcBef>
                <a:spcPts val="200"/>
              </a:spcBef>
              <a:spcAft>
                <a:spcPts val="0"/>
              </a:spcAft>
              <a:buClr>
                <a:srgbClr val="888888"/>
              </a:buClr>
              <a:buSzPts val="1800"/>
              <a:buNone/>
              <a:defRPr sz="1800">
                <a:solidFill>
                  <a:srgbClr val="888888"/>
                </a:solidFill>
              </a:defRPr>
            </a:lvl2pPr>
            <a:lvl3pPr indent="-228600" lvl="2" marL="1371600" algn="l">
              <a:lnSpc>
                <a:spcPct val="100000"/>
              </a:lnSpc>
              <a:spcBef>
                <a:spcPts val="400"/>
              </a:spcBef>
              <a:spcAft>
                <a:spcPts val="0"/>
              </a:spcAft>
              <a:buClr>
                <a:srgbClr val="888888"/>
              </a:buClr>
              <a:buSzPts val="1600"/>
              <a:buNone/>
              <a:defRPr sz="1600">
                <a:solidFill>
                  <a:srgbClr val="888888"/>
                </a:solidFill>
              </a:defRPr>
            </a:lvl3pPr>
            <a:lvl4pPr indent="-228600" lvl="3" marL="1828800" algn="l">
              <a:lnSpc>
                <a:spcPct val="100000"/>
              </a:lnSpc>
              <a:spcBef>
                <a:spcPts val="400"/>
              </a:spcBef>
              <a:spcAft>
                <a:spcPts val="0"/>
              </a:spcAft>
              <a:buClr>
                <a:srgbClr val="888888"/>
              </a:buClr>
              <a:buSzPts val="1400"/>
              <a:buNone/>
              <a:defRPr sz="1400">
                <a:solidFill>
                  <a:srgbClr val="888888"/>
                </a:solidFill>
              </a:defRPr>
            </a:lvl4pPr>
            <a:lvl5pPr indent="-228600" lvl="4" marL="2286000" algn="l">
              <a:lnSpc>
                <a:spcPct val="100000"/>
              </a:lnSpc>
              <a:spcBef>
                <a:spcPts val="400"/>
              </a:spcBef>
              <a:spcAft>
                <a:spcPts val="0"/>
              </a:spcAft>
              <a:buClr>
                <a:srgbClr val="888888"/>
              </a:buClr>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cxnSp>
        <p:nvCxnSpPr>
          <p:cNvPr id="31" name="Google Shape;31;p11"/>
          <p:cNvCxnSpPr/>
          <p:nvPr/>
        </p:nvCxnSpPr>
        <p:spPr>
          <a:xfrm>
            <a:off x="1207658" y="4485132"/>
            <a:ext cx="9875520" cy="0"/>
          </a:xfrm>
          <a:prstGeom prst="straightConnector1">
            <a:avLst/>
          </a:prstGeom>
          <a:noFill/>
          <a:ln cap="flat" cmpd="sng" w="12700">
            <a:solidFill>
              <a:srgbClr val="3F3F3F"/>
            </a:solidFill>
            <a:prstDash val="solid"/>
            <a:round/>
            <a:headEnd len="sm" w="sm" type="none"/>
            <a:tailEnd len="sm" w="sm" type="none"/>
          </a:ln>
        </p:spPr>
      </p:cxnSp>
      <p:sp>
        <p:nvSpPr>
          <p:cNvPr id="32" name="Google Shape;32;p11"/>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1"/>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1"/>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1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2"/>
          <p:cNvSpPr txBox="1"/>
          <p:nvPr>
            <p:ph idx="1" type="body"/>
          </p:nvPr>
        </p:nvSpPr>
        <p:spPr>
          <a:xfrm>
            <a:off x="1097280" y="2120900"/>
            <a:ext cx="4639736" cy="3748193"/>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8" name="Google Shape;38;p12"/>
          <p:cNvSpPr txBox="1"/>
          <p:nvPr>
            <p:ph idx="2" type="body"/>
          </p:nvPr>
        </p:nvSpPr>
        <p:spPr>
          <a:xfrm>
            <a:off x="6515944" y="2120900"/>
            <a:ext cx="4639736" cy="3748194"/>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9" name="Google Shape;39;p12"/>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2"/>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2"/>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3"/>
          <p:cNvSpPr txBox="1"/>
          <p:nvPr>
            <p:ph idx="1" type="body"/>
          </p:nvPr>
        </p:nvSpPr>
        <p:spPr>
          <a:xfrm>
            <a:off x="1097280" y="2057400"/>
            <a:ext cx="4639736"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1200"/>
              </a:spcBef>
              <a:spcAft>
                <a:spcPts val="0"/>
              </a:spcAft>
              <a:buSzPts val="2000"/>
              <a:buNone/>
              <a:defRPr b="0" sz="2000" cap="none">
                <a:solidFill>
                  <a:schemeClr val="dk1"/>
                </a:solidFill>
              </a:defRPr>
            </a:lvl1pPr>
            <a:lvl2pPr indent="-228600" lvl="1" marL="914400" algn="l">
              <a:lnSpc>
                <a:spcPct val="100000"/>
              </a:lnSpc>
              <a:spcBef>
                <a:spcPts val="200"/>
              </a:spcBef>
              <a:spcAft>
                <a:spcPts val="0"/>
              </a:spcAft>
              <a:buClr>
                <a:srgbClr val="3F3F3F"/>
              </a:buClr>
              <a:buSzPts val="2000"/>
              <a:buNone/>
              <a:defRPr b="1" sz="2000"/>
            </a:lvl2pPr>
            <a:lvl3pPr indent="-228600" lvl="2" marL="1371600" algn="l">
              <a:lnSpc>
                <a:spcPct val="100000"/>
              </a:lnSpc>
              <a:spcBef>
                <a:spcPts val="400"/>
              </a:spcBef>
              <a:spcAft>
                <a:spcPts val="0"/>
              </a:spcAft>
              <a:buClr>
                <a:srgbClr val="3F3F3F"/>
              </a:buClr>
              <a:buSzPts val="1800"/>
              <a:buNone/>
              <a:defRPr b="1" sz="1800"/>
            </a:lvl3pPr>
            <a:lvl4pPr indent="-228600" lvl="3" marL="1828800" algn="l">
              <a:lnSpc>
                <a:spcPct val="100000"/>
              </a:lnSpc>
              <a:spcBef>
                <a:spcPts val="400"/>
              </a:spcBef>
              <a:spcAft>
                <a:spcPts val="0"/>
              </a:spcAft>
              <a:buClr>
                <a:srgbClr val="3F3F3F"/>
              </a:buClr>
              <a:buSzPts val="1600"/>
              <a:buNone/>
              <a:defRPr b="1" sz="1600"/>
            </a:lvl4pPr>
            <a:lvl5pPr indent="-228600" lvl="4" marL="2286000" algn="l">
              <a:lnSpc>
                <a:spcPct val="100000"/>
              </a:lnSpc>
              <a:spcBef>
                <a:spcPts val="400"/>
              </a:spcBef>
              <a:spcAft>
                <a:spcPts val="0"/>
              </a:spcAft>
              <a:buClr>
                <a:srgbClr val="3F3F3F"/>
              </a:buClr>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5" name="Google Shape;45;p13"/>
          <p:cNvSpPr txBox="1"/>
          <p:nvPr>
            <p:ph idx="2" type="body"/>
          </p:nvPr>
        </p:nvSpPr>
        <p:spPr>
          <a:xfrm>
            <a:off x="1097280" y="2958274"/>
            <a:ext cx="4639736" cy="2910821"/>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6" name="Google Shape;46;p13"/>
          <p:cNvSpPr txBox="1"/>
          <p:nvPr>
            <p:ph idx="3" type="body"/>
          </p:nvPr>
        </p:nvSpPr>
        <p:spPr>
          <a:xfrm>
            <a:off x="6515944" y="2057400"/>
            <a:ext cx="4639736"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1200"/>
              </a:spcBef>
              <a:spcAft>
                <a:spcPts val="0"/>
              </a:spcAft>
              <a:buSzPts val="2000"/>
              <a:buNone/>
              <a:defRPr b="0" sz="2000" cap="none">
                <a:solidFill>
                  <a:schemeClr val="dk1"/>
                </a:solidFill>
              </a:defRPr>
            </a:lvl1pPr>
            <a:lvl2pPr indent="-228600" lvl="1" marL="914400" algn="l">
              <a:lnSpc>
                <a:spcPct val="100000"/>
              </a:lnSpc>
              <a:spcBef>
                <a:spcPts val="200"/>
              </a:spcBef>
              <a:spcAft>
                <a:spcPts val="0"/>
              </a:spcAft>
              <a:buClr>
                <a:srgbClr val="3F3F3F"/>
              </a:buClr>
              <a:buSzPts val="2000"/>
              <a:buNone/>
              <a:defRPr b="1" sz="2000"/>
            </a:lvl2pPr>
            <a:lvl3pPr indent="-228600" lvl="2" marL="1371600" algn="l">
              <a:lnSpc>
                <a:spcPct val="100000"/>
              </a:lnSpc>
              <a:spcBef>
                <a:spcPts val="400"/>
              </a:spcBef>
              <a:spcAft>
                <a:spcPts val="0"/>
              </a:spcAft>
              <a:buClr>
                <a:srgbClr val="3F3F3F"/>
              </a:buClr>
              <a:buSzPts val="1800"/>
              <a:buNone/>
              <a:defRPr b="1" sz="1800"/>
            </a:lvl3pPr>
            <a:lvl4pPr indent="-228600" lvl="3" marL="1828800" algn="l">
              <a:lnSpc>
                <a:spcPct val="100000"/>
              </a:lnSpc>
              <a:spcBef>
                <a:spcPts val="400"/>
              </a:spcBef>
              <a:spcAft>
                <a:spcPts val="0"/>
              </a:spcAft>
              <a:buClr>
                <a:srgbClr val="3F3F3F"/>
              </a:buClr>
              <a:buSzPts val="1600"/>
              <a:buNone/>
              <a:defRPr b="1" sz="1600"/>
            </a:lvl4pPr>
            <a:lvl5pPr indent="-228600" lvl="4" marL="2286000" algn="l">
              <a:lnSpc>
                <a:spcPct val="100000"/>
              </a:lnSpc>
              <a:spcBef>
                <a:spcPts val="400"/>
              </a:spcBef>
              <a:spcAft>
                <a:spcPts val="0"/>
              </a:spcAft>
              <a:buClr>
                <a:srgbClr val="3F3F3F"/>
              </a:buClr>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7" name="Google Shape;47;p13"/>
          <p:cNvSpPr txBox="1"/>
          <p:nvPr>
            <p:ph idx="4" type="body"/>
          </p:nvPr>
        </p:nvSpPr>
        <p:spPr>
          <a:xfrm>
            <a:off x="6515944" y="2958273"/>
            <a:ext cx="4639736" cy="2910821"/>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13"/>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3"/>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3"/>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4"/>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4"/>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4"/>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6" name="Shape 56"/>
        <p:cNvGrpSpPr/>
        <p:nvPr/>
      </p:nvGrpSpPr>
      <p:grpSpPr>
        <a:xfrm>
          <a:off x="0" y="0"/>
          <a:ext cx="0" cy="0"/>
          <a:chOff x="0" y="0"/>
          <a:chExt cx="0" cy="0"/>
        </a:xfrm>
      </p:grpSpPr>
      <p:sp>
        <p:nvSpPr>
          <p:cNvPr id="57" name="Google Shape;57;p15"/>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5"/>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1" name="Shape 61"/>
        <p:cNvGrpSpPr/>
        <p:nvPr/>
      </p:nvGrpSpPr>
      <p:grpSpPr>
        <a:xfrm>
          <a:off x="0" y="0"/>
          <a:ext cx="0" cy="0"/>
          <a:chOff x="0" y="0"/>
          <a:chExt cx="0" cy="0"/>
        </a:xfrm>
      </p:grpSpPr>
      <p:sp>
        <p:nvSpPr>
          <p:cNvPr id="62" name="Google Shape;62;p16"/>
          <p:cNvSpPr/>
          <p:nvPr/>
        </p:nvSpPr>
        <p:spPr>
          <a:xfrm>
            <a:off x="16" y="0"/>
            <a:ext cx="4654296" cy="68580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6"/>
          <p:cNvSpPr txBox="1"/>
          <p:nvPr>
            <p:ph type="title"/>
          </p:nvPr>
        </p:nvSpPr>
        <p:spPr>
          <a:xfrm>
            <a:off x="643466" y="786383"/>
            <a:ext cx="3517567" cy="2093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600"/>
              <a:buFont typeface="Bookman Old Style"/>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6"/>
          <p:cNvSpPr txBox="1"/>
          <p:nvPr>
            <p:ph idx="1" type="body"/>
          </p:nvPr>
        </p:nvSpPr>
        <p:spPr>
          <a:xfrm>
            <a:off x="5458984" y="812799"/>
            <a:ext cx="5928344" cy="5294757"/>
          </a:xfrm>
          <a:prstGeom prst="rect">
            <a:avLst/>
          </a:prstGeom>
          <a:noFill/>
          <a:ln>
            <a:noFill/>
          </a:ln>
        </p:spPr>
        <p:txBody>
          <a:bodyPr anchorCtr="0" anchor="t" bIns="45700" lIns="0" spcFirstLastPara="1" rIns="0" wrap="square" tIns="4570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5" name="Google Shape;65;p16"/>
          <p:cNvSpPr txBox="1"/>
          <p:nvPr>
            <p:ph idx="2" type="body"/>
          </p:nvPr>
        </p:nvSpPr>
        <p:spPr>
          <a:xfrm>
            <a:off x="643465" y="3043050"/>
            <a:ext cx="3517567" cy="3064505"/>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200"/>
              </a:spcBef>
              <a:spcAft>
                <a:spcPts val="0"/>
              </a:spcAft>
              <a:buSzPts val="1800"/>
              <a:buNone/>
              <a:defRPr sz="1800">
                <a:solidFill>
                  <a:srgbClr val="FFFFFF"/>
                </a:solidFill>
              </a:defRPr>
            </a:lvl1pPr>
            <a:lvl2pPr indent="-228600" lvl="1" marL="914400" algn="l">
              <a:lnSpc>
                <a:spcPct val="100000"/>
              </a:lnSpc>
              <a:spcBef>
                <a:spcPts val="200"/>
              </a:spcBef>
              <a:spcAft>
                <a:spcPts val="0"/>
              </a:spcAft>
              <a:buClr>
                <a:srgbClr val="3F3F3F"/>
              </a:buClr>
              <a:buSzPts val="1200"/>
              <a:buNone/>
              <a:defRPr sz="1200"/>
            </a:lvl2pPr>
            <a:lvl3pPr indent="-228600" lvl="2" marL="1371600" algn="l">
              <a:lnSpc>
                <a:spcPct val="100000"/>
              </a:lnSpc>
              <a:spcBef>
                <a:spcPts val="400"/>
              </a:spcBef>
              <a:spcAft>
                <a:spcPts val="0"/>
              </a:spcAft>
              <a:buClr>
                <a:srgbClr val="3F3F3F"/>
              </a:buClr>
              <a:buSzPts val="1000"/>
              <a:buNone/>
              <a:defRPr sz="1000"/>
            </a:lvl3pPr>
            <a:lvl4pPr indent="-228600" lvl="3" marL="1828800" algn="l">
              <a:lnSpc>
                <a:spcPct val="100000"/>
              </a:lnSpc>
              <a:spcBef>
                <a:spcPts val="400"/>
              </a:spcBef>
              <a:spcAft>
                <a:spcPts val="0"/>
              </a:spcAft>
              <a:buClr>
                <a:srgbClr val="3F3F3F"/>
              </a:buClr>
              <a:buSzPts val="900"/>
              <a:buNone/>
              <a:defRPr sz="900"/>
            </a:lvl4pPr>
            <a:lvl5pPr indent="-228600" lvl="4" marL="2286000" algn="l">
              <a:lnSpc>
                <a:spcPct val="100000"/>
              </a:lnSpc>
              <a:spcBef>
                <a:spcPts val="400"/>
              </a:spcBef>
              <a:spcAft>
                <a:spcPts val="0"/>
              </a:spcAft>
              <a:buClr>
                <a:srgbClr val="3F3F3F"/>
              </a:buClr>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6" name="Google Shape;66;p16"/>
          <p:cNvSpPr txBox="1"/>
          <p:nvPr>
            <p:ph idx="10" type="dt"/>
          </p:nvPr>
        </p:nvSpPr>
        <p:spPr>
          <a:xfrm>
            <a:off x="643464" y="6446520"/>
            <a:ext cx="351756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6"/>
          <p:cNvSpPr txBox="1"/>
          <p:nvPr>
            <p:ph idx="11" type="ftr"/>
          </p:nvPr>
        </p:nvSpPr>
        <p:spPr>
          <a:xfrm>
            <a:off x="5458983" y="6446520"/>
            <a:ext cx="533401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6"/>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sz="800">
                <a:solidFill>
                  <a:schemeClr val="dk2"/>
                </a:solidFill>
                <a:latin typeface="Libre Franklin"/>
                <a:ea typeface="Libre Franklin"/>
                <a:cs typeface="Libre Franklin"/>
                <a:sym typeface="Libre Franklin"/>
              </a:defRPr>
            </a:lvl1pPr>
            <a:lvl2pPr indent="0" lvl="1" marL="0" algn="l">
              <a:spcBef>
                <a:spcPts val="0"/>
              </a:spcBef>
              <a:buNone/>
              <a:defRPr sz="800">
                <a:solidFill>
                  <a:schemeClr val="dk2"/>
                </a:solidFill>
                <a:latin typeface="Libre Franklin"/>
                <a:ea typeface="Libre Franklin"/>
                <a:cs typeface="Libre Franklin"/>
                <a:sym typeface="Libre Franklin"/>
              </a:defRPr>
            </a:lvl2pPr>
            <a:lvl3pPr indent="0" lvl="2" marL="0" algn="l">
              <a:spcBef>
                <a:spcPts val="0"/>
              </a:spcBef>
              <a:buNone/>
              <a:defRPr sz="800">
                <a:solidFill>
                  <a:schemeClr val="dk2"/>
                </a:solidFill>
                <a:latin typeface="Libre Franklin"/>
                <a:ea typeface="Libre Franklin"/>
                <a:cs typeface="Libre Franklin"/>
                <a:sym typeface="Libre Franklin"/>
              </a:defRPr>
            </a:lvl3pPr>
            <a:lvl4pPr indent="0" lvl="3" marL="0" algn="l">
              <a:spcBef>
                <a:spcPts val="0"/>
              </a:spcBef>
              <a:buNone/>
              <a:defRPr sz="800">
                <a:solidFill>
                  <a:schemeClr val="dk2"/>
                </a:solidFill>
                <a:latin typeface="Libre Franklin"/>
                <a:ea typeface="Libre Franklin"/>
                <a:cs typeface="Libre Franklin"/>
                <a:sym typeface="Libre Franklin"/>
              </a:defRPr>
            </a:lvl4pPr>
            <a:lvl5pPr indent="0" lvl="4" marL="0" algn="l">
              <a:spcBef>
                <a:spcPts val="0"/>
              </a:spcBef>
              <a:buNone/>
              <a:defRPr sz="800">
                <a:solidFill>
                  <a:schemeClr val="dk2"/>
                </a:solidFill>
                <a:latin typeface="Libre Franklin"/>
                <a:ea typeface="Libre Franklin"/>
                <a:cs typeface="Libre Franklin"/>
                <a:sym typeface="Libre Franklin"/>
              </a:defRPr>
            </a:lvl5pPr>
            <a:lvl6pPr indent="0" lvl="5" marL="0" algn="l">
              <a:spcBef>
                <a:spcPts val="0"/>
              </a:spcBef>
              <a:buNone/>
              <a:defRPr sz="800">
                <a:solidFill>
                  <a:schemeClr val="dk2"/>
                </a:solidFill>
                <a:latin typeface="Libre Franklin"/>
                <a:ea typeface="Libre Franklin"/>
                <a:cs typeface="Libre Franklin"/>
                <a:sym typeface="Libre Franklin"/>
              </a:defRPr>
            </a:lvl6pPr>
            <a:lvl7pPr indent="0" lvl="6" marL="0" algn="l">
              <a:spcBef>
                <a:spcPts val="0"/>
              </a:spcBef>
              <a:buNone/>
              <a:defRPr sz="800">
                <a:solidFill>
                  <a:schemeClr val="dk2"/>
                </a:solidFill>
                <a:latin typeface="Libre Franklin"/>
                <a:ea typeface="Libre Franklin"/>
                <a:cs typeface="Libre Franklin"/>
                <a:sym typeface="Libre Franklin"/>
              </a:defRPr>
            </a:lvl7pPr>
            <a:lvl8pPr indent="0" lvl="7" marL="0" algn="l">
              <a:spcBef>
                <a:spcPts val="0"/>
              </a:spcBef>
              <a:buNone/>
              <a:defRPr sz="800">
                <a:solidFill>
                  <a:schemeClr val="dk2"/>
                </a:solidFill>
                <a:latin typeface="Libre Franklin"/>
                <a:ea typeface="Libre Franklin"/>
                <a:cs typeface="Libre Franklin"/>
                <a:sym typeface="Libre Franklin"/>
              </a:defRPr>
            </a:lvl8pPr>
            <a:lvl9pPr indent="0" lvl="8" marL="0" algn="l">
              <a:spcBef>
                <a:spcPts val="0"/>
              </a:spcBef>
              <a:buNone/>
              <a:defRPr sz="800">
                <a:solidFill>
                  <a:schemeClr val="dk2"/>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9" name="Shape 69"/>
        <p:cNvGrpSpPr/>
        <p:nvPr/>
      </p:nvGrpSpPr>
      <p:grpSpPr>
        <a:xfrm>
          <a:off x="0" y="0"/>
          <a:ext cx="0" cy="0"/>
          <a:chOff x="0" y="0"/>
          <a:chExt cx="0" cy="0"/>
        </a:xfrm>
      </p:grpSpPr>
      <p:sp>
        <p:nvSpPr>
          <p:cNvPr id="70" name="Google Shape;70;p17"/>
          <p:cNvSpPr/>
          <p:nvPr/>
        </p:nvSpPr>
        <p:spPr>
          <a:xfrm>
            <a:off x="0" y="4578350"/>
            <a:ext cx="12188825" cy="227965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7"/>
          <p:cNvSpPr/>
          <p:nvPr>
            <p:ph idx="2" type="pic"/>
          </p:nvPr>
        </p:nvSpPr>
        <p:spPr>
          <a:xfrm>
            <a:off x="15" y="0"/>
            <a:ext cx="12191985" cy="4578350"/>
          </a:xfrm>
          <a:prstGeom prst="rect">
            <a:avLst/>
          </a:prstGeom>
          <a:solidFill>
            <a:srgbClr val="D8D8D8"/>
          </a:solidFill>
          <a:ln>
            <a:noFill/>
          </a:ln>
        </p:spPr>
      </p:sp>
      <p:sp>
        <p:nvSpPr>
          <p:cNvPr id="72" name="Google Shape;72;p17"/>
          <p:cNvSpPr txBox="1"/>
          <p:nvPr>
            <p:ph type="title"/>
          </p:nvPr>
        </p:nvSpPr>
        <p:spPr>
          <a:xfrm>
            <a:off x="1097279" y="4799362"/>
            <a:ext cx="10113645" cy="743682"/>
          </a:xfrm>
          <a:prstGeom prst="rect">
            <a:avLst/>
          </a:prstGeom>
          <a:noFill/>
          <a:ln>
            <a:noFill/>
          </a:ln>
        </p:spPr>
        <p:txBody>
          <a:bodyPr anchorCtr="0" anchor="b" bIns="0" lIns="91425" spcFirstLastPara="1" rIns="91425" wrap="square" tIns="0">
            <a:noAutofit/>
          </a:bodyPr>
          <a:lstStyle>
            <a:lvl1pPr lvl="0" algn="l">
              <a:lnSpc>
                <a:spcPct val="90000"/>
              </a:lnSpc>
              <a:spcBef>
                <a:spcPts val="0"/>
              </a:spcBef>
              <a:spcAft>
                <a:spcPts val="0"/>
              </a:spcAft>
              <a:buClr>
                <a:srgbClr val="FFFFFF"/>
              </a:buClr>
              <a:buSzPts val="3600"/>
              <a:buFont typeface="Bookman Old Style"/>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7"/>
          <p:cNvSpPr txBox="1"/>
          <p:nvPr>
            <p:ph idx="1" type="body"/>
          </p:nvPr>
        </p:nvSpPr>
        <p:spPr>
          <a:xfrm>
            <a:off x="1097279" y="5715000"/>
            <a:ext cx="10113264" cy="609600"/>
          </a:xfrm>
          <a:prstGeom prst="rect">
            <a:avLst/>
          </a:prstGeom>
          <a:noFill/>
          <a:ln>
            <a:noFill/>
          </a:ln>
        </p:spPr>
        <p:txBody>
          <a:bodyPr anchorCtr="0" anchor="t" bIns="0" lIns="91425" spcFirstLastPara="1" rIns="91425" wrap="square" tIns="0">
            <a:normAutofit/>
          </a:bodyPr>
          <a:lstStyle>
            <a:lvl1pPr indent="-228600" lvl="0" marL="457200" algn="l">
              <a:lnSpc>
                <a:spcPct val="11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Clr>
                <a:srgbClr val="3F3F3F"/>
              </a:buClr>
              <a:buSzPts val="1200"/>
              <a:buNone/>
              <a:defRPr sz="1200"/>
            </a:lvl2pPr>
            <a:lvl3pPr indent="-228600" lvl="2" marL="1371600" algn="l">
              <a:lnSpc>
                <a:spcPct val="100000"/>
              </a:lnSpc>
              <a:spcBef>
                <a:spcPts val="400"/>
              </a:spcBef>
              <a:spcAft>
                <a:spcPts val="0"/>
              </a:spcAft>
              <a:buClr>
                <a:srgbClr val="3F3F3F"/>
              </a:buClr>
              <a:buSzPts val="1000"/>
              <a:buNone/>
              <a:defRPr sz="1000"/>
            </a:lvl3pPr>
            <a:lvl4pPr indent="-228600" lvl="3" marL="1828800" algn="l">
              <a:lnSpc>
                <a:spcPct val="100000"/>
              </a:lnSpc>
              <a:spcBef>
                <a:spcPts val="400"/>
              </a:spcBef>
              <a:spcAft>
                <a:spcPts val="0"/>
              </a:spcAft>
              <a:buClr>
                <a:srgbClr val="3F3F3F"/>
              </a:buClr>
              <a:buSzPts val="900"/>
              <a:buNone/>
              <a:defRPr sz="900"/>
            </a:lvl4pPr>
            <a:lvl5pPr indent="-228600" lvl="4" marL="2286000" algn="l">
              <a:lnSpc>
                <a:spcPct val="100000"/>
              </a:lnSpc>
              <a:spcBef>
                <a:spcPts val="400"/>
              </a:spcBef>
              <a:spcAft>
                <a:spcPts val="0"/>
              </a:spcAft>
              <a:buClr>
                <a:srgbClr val="3F3F3F"/>
              </a:buClr>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4" name="Google Shape;74;p17"/>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7"/>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8"/>
          <p:cNvSpPr txBox="1"/>
          <p:nvPr>
            <p:ph idx="1" type="body"/>
          </p:nvPr>
        </p:nvSpPr>
        <p:spPr>
          <a:xfrm rot="5400000">
            <a:off x="4246035" y="-1040554"/>
            <a:ext cx="3760891" cy="10058400"/>
          </a:xfrm>
          <a:prstGeom prst="rect">
            <a:avLst/>
          </a:prstGeom>
          <a:noFill/>
          <a:ln>
            <a:noFill/>
          </a:ln>
        </p:spPr>
        <p:txBody>
          <a:bodyPr anchorCtr="0" anchor="t" bIns="0" lIns="45700" spcFirstLastPara="1" rIns="45700" wrap="square" tIns="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0" name="Google Shape;80;p18"/>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8"/>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8"/>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3" name="Shape 83"/>
        <p:cNvGrpSpPr/>
        <p:nvPr/>
      </p:nvGrpSpPr>
      <p:grpSpPr>
        <a:xfrm>
          <a:off x="0" y="0"/>
          <a:ext cx="0" cy="0"/>
          <a:chOff x="0" y="0"/>
          <a:chExt cx="0" cy="0"/>
        </a:xfrm>
      </p:grpSpPr>
      <p:sp>
        <p:nvSpPr>
          <p:cNvPr id="84" name="Google Shape;84;p19"/>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9"/>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9"/>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110000"/>
              </a:lnSpc>
              <a:spcBef>
                <a:spcPts val="1200"/>
              </a:spcBef>
              <a:spcAft>
                <a:spcPts val="0"/>
              </a:spcAft>
              <a:buSzPts val="1800"/>
              <a:buChar char=" "/>
              <a:defRPr/>
            </a:lvl1pPr>
            <a:lvl2pPr indent="-342900" lvl="1" marL="914400" algn="l">
              <a:lnSpc>
                <a:spcPct val="100000"/>
              </a:lnSpc>
              <a:spcBef>
                <a:spcPts val="200"/>
              </a:spcBef>
              <a:spcAft>
                <a:spcPts val="0"/>
              </a:spcAft>
              <a:buClr>
                <a:srgbClr val="3F3F3F"/>
              </a:buClr>
              <a:buSzPts val="1800"/>
              <a:buChar char="◦"/>
              <a:defRPr/>
            </a:lvl2pPr>
            <a:lvl3pPr indent="-342900" lvl="2" marL="1371600" algn="l">
              <a:lnSpc>
                <a:spcPct val="100000"/>
              </a:lnSpc>
              <a:spcBef>
                <a:spcPts val="400"/>
              </a:spcBef>
              <a:spcAft>
                <a:spcPts val="0"/>
              </a:spcAft>
              <a:buClr>
                <a:srgbClr val="3F3F3F"/>
              </a:buClr>
              <a:buSzPts val="1800"/>
              <a:buChar char="◦"/>
              <a:defRPr/>
            </a:lvl3pPr>
            <a:lvl4pPr indent="-342900" lvl="3" marL="1828800" algn="l">
              <a:lnSpc>
                <a:spcPct val="100000"/>
              </a:lnSpc>
              <a:spcBef>
                <a:spcPts val="400"/>
              </a:spcBef>
              <a:spcAft>
                <a:spcPts val="0"/>
              </a:spcAft>
              <a:buClr>
                <a:srgbClr val="3F3F3F"/>
              </a:buClr>
              <a:buSzPts val="1800"/>
              <a:buChar char="◦"/>
              <a:defRPr/>
            </a:lvl4pPr>
            <a:lvl5pPr indent="-342900" lvl="4" marL="2286000" algn="l">
              <a:lnSpc>
                <a:spcPct val="100000"/>
              </a:lnSpc>
              <a:spcBef>
                <a:spcPts val="400"/>
              </a:spcBef>
              <a:spcAft>
                <a:spcPts val="0"/>
              </a:spcAft>
              <a:buClr>
                <a:srgbClr val="3F3F3F"/>
              </a:buClr>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7" name="Google Shape;87;p19"/>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9"/>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9"/>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p:nvPr/>
        </p:nvSpPr>
        <p:spPr>
          <a:xfrm>
            <a:off x="3175" y="6400800"/>
            <a:ext cx="12188825" cy="4572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F3F3F"/>
              </a:buClr>
              <a:buSzPts val="4700"/>
              <a:buFont typeface="Bookman Old Style"/>
              <a:buNone/>
              <a:defRPr b="0" i="0" sz="4700" u="none" cap="none" strike="noStrike">
                <a:solidFill>
                  <a:srgbClr val="3F3F3F"/>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8"/>
          <p:cNvSpPr txBox="1"/>
          <p:nvPr>
            <p:ph idx="1" type="body"/>
          </p:nvPr>
        </p:nvSpPr>
        <p:spPr>
          <a:xfrm>
            <a:off x="1097280" y="2108201"/>
            <a:ext cx="10058400" cy="3760891"/>
          </a:xfrm>
          <a:prstGeom prst="rect">
            <a:avLst/>
          </a:prstGeom>
          <a:noFill/>
          <a:ln>
            <a:noFill/>
          </a:ln>
        </p:spPr>
        <p:txBody>
          <a:bodyPr anchorCtr="0" anchor="t" bIns="45700" lIns="0" spcFirstLastPara="1" rIns="0" wrap="square" tIns="45700">
            <a:normAutofit/>
          </a:bodyPr>
          <a:lstStyle>
            <a:lvl1pPr indent="-349250" lvl="0" marL="457200" marR="0" rtl="0" algn="l">
              <a:lnSpc>
                <a:spcPct val="110000"/>
              </a:lnSpc>
              <a:spcBef>
                <a:spcPts val="1200"/>
              </a:spcBef>
              <a:spcAft>
                <a:spcPts val="0"/>
              </a:spcAft>
              <a:buClr>
                <a:schemeClr val="accent1"/>
              </a:buClr>
              <a:buSzPts val="1900"/>
              <a:buFont typeface="Calibri"/>
              <a:buChar char=" "/>
              <a:defRPr b="0" i="0" sz="1900" u="none" cap="none" strike="noStrike">
                <a:solidFill>
                  <a:srgbClr val="3F3F3F"/>
                </a:solidFill>
                <a:latin typeface="Libre Franklin"/>
                <a:ea typeface="Libre Franklin"/>
                <a:cs typeface="Libre Franklin"/>
                <a:sym typeface="Libre Franklin"/>
              </a:defRPr>
            </a:lvl1pPr>
            <a:lvl2pPr indent="-336550" lvl="1" marL="914400" marR="0" rtl="0" algn="l">
              <a:lnSpc>
                <a:spcPct val="100000"/>
              </a:lnSpc>
              <a:spcBef>
                <a:spcPts val="200"/>
              </a:spcBef>
              <a:spcAft>
                <a:spcPts val="0"/>
              </a:spcAft>
              <a:buClr>
                <a:srgbClr val="3F3F3F"/>
              </a:buClr>
              <a:buSzPts val="1700"/>
              <a:buFont typeface="Calibri"/>
              <a:buChar char="◦"/>
              <a:defRPr b="0" i="0" sz="1700" u="none" cap="none" strike="noStrike">
                <a:solidFill>
                  <a:srgbClr val="3F3F3F"/>
                </a:solidFill>
                <a:latin typeface="Libre Franklin"/>
                <a:ea typeface="Libre Franklin"/>
                <a:cs typeface="Libre Franklin"/>
                <a:sym typeface="Libre Franklin"/>
              </a:defRPr>
            </a:lvl2pPr>
            <a:lvl3pPr indent="-311150" lvl="2" marL="1371600" marR="0" rtl="0" algn="l">
              <a:lnSpc>
                <a:spcPct val="100000"/>
              </a:lnSpc>
              <a:spcBef>
                <a:spcPts val="4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3pPr>
            <a:lvl4pPr indent="-311150" lvl="3" marL="1828800" marR="0" rtl="0" algn="l">
              <a:lnSpc>
                <a:spcPct val="100000"/>
              </a:lnSpc>
              <a:spcBef>
                <a:spcPts val="4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4pPr>
            <a:lvl5pPr indent="-311150" lvl="4" marL="2286000" marR="0" rtl="0" algn="l">
              <a:lnSpc>
                <a:spcPct val="100000"/>
              </a:lnSpc>
              <a:spcBef>
                <a:spcPts val="4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Libre Franklin"/>
                <a:ea typeface="Libre Franklin"/>
                <a:cs typeface="Libre Franklin"/>
                <a:sym typeface="Libre Franklin"/>
              </a:defRPr>
            </a:lvl9pPr>
          </a:lstStyle>
          <a:p/>
        </p:txBody>
      </p:sp>
      <p:sp>
        <p:nvSpPr>
          <p:cNvPr id="9" name="Google Shape;9;p8"/>
          <p:cNvSpPr txBox="1"/>
          <p:nvPr>
            <p:ph idx="10" type="dt"/>
          </p:nvPr>
        </p:nvSpPr>
        <p:spPr>
          <a:xfrm>
            <a:off x="8218426" y="6446838"/>
            <a:ext cx="258485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800" u="none" cap="none" strike="noStrike">
                <a:solidFill>
                  <a:srgbClr val="FFFFF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0" name="Google Shape;10;p8"/>
          <p:cNvSpPr txBox="1"/>
          <p:nvPr>
            <p:ph idx="11" type="ftr"/>
          </p:nvPr>
        </p:nvSpPr>
        <p:spPr>
          <a:xfrm>
            <a:off x="1097279" y="6446838"/>
            <a:ext cx="681826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FFFFF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1" name="Google Shape;11;p8"/>
          <p:cNvSpPr txBox="1"/>
          <p:nvPr>
            <p:ph idx="12" type="sldNum"/>
          </p:nvPr>
        </p:nvSpPr>
        <p:spPr>
          <a:xfrm>
            <a:off x="10993582" y="6446838"/>
            <a:ext cx="780010"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rgbClr val="FFFFFF"/>
                </a:solidFill>
                <a:latin typeface="Libre Franklin"/>
                <a:ea typeface="Libre Franklin"/>
                <a:cs typeface="Libre Franklin"/>
                <a:sym typeface="Libre Franklin"/>
              </a:defRPr>
            </a:lvl1pPr>
            <a:lvl2pPr indent="0" lvl="1" marL="0" marR="0" rtl="0" algn="l">
              <a:spcBef>
                <a:spcPts val="0"/>
              </a:spcBef>
              <a:buNone/>
              <a:defRPr b="0" i="0" sz="800" u="none" cap="none" strike="noStrike">
                <a:solidFill>
                  <a:srgbClr val="FFFFFF"/>
                </a:solidFill>
                <a:latin typeface="Libre Franklin"/>
                <a:ea typeface="Libre Franklin"/>
                <a:cs typeface="Libre Franklin"/>
                <a:sym typeface="Libre Franklin"/>
              </a:defRPr>
            </a:lvl2pPr>
            <a:lvl3pPr indent="0" lvl="2" marL="0" marR="0" rtl="0" algn="l">
              <a:spcBef>
                <a:spcPts val="0"/>
              </a:spcBef>
              <a:buNone/>
              <a:defRPr b="0" i="0" sz="800" u="none" cap="none" strike="noStrike">
                <a:solidFill>
                  <a:srgbClr val="FFFFFF"/>
                </a:solidFill>
                <a:latin typeface="Libre Franklin"/>
                <a:ea typeface="Libre Franklin"/>
                <a:cs typeface="Libre Franklin"/>
                <a:sym typeface="Libre Franklin"/>
              </a:defRPr>
            </a:lvl3pPr>
            <a:lvl4pPr indent="0" lvl="3" marL="0" marR="0" rtl="0" algn="l">
              <a:spcBef>
                <a:spcPts val="0"/>
              </a:spcBef>
              <a:buNone/>
              <a:defRPr b="0" i="0" sz="800" u="none" cap="none" strike="noStrike">
                <a:solidFill>
                  <a:srgbClr val="FFFFFF"/>
                </a:solidFill>
                <a:latin typeface="Libre Franklin"/>
                <a:ea typeface="Libre Franklin"/>
                <a:cs typeface="Libre Franklin"/>
                <a:sym typeface="Libre Franklin"/>
              </a:defRPr>
            </a:lvl4pPr>
            <a:lvl5pPr indent="0" lvl="4" marL="0" marR="0" rtl="0" algn="l">
              <a:spcBef>
                <a:spcPts val="0"/>
              </a:spcBef>
              <a:buNone/>
              <a:defRPr b="0" i="0" sz="800" u="none" cap="none" strike="noStrike">
                <a:solidFill>
                  <a:srgbClr val="FFFFFF"/>
                </a:solidFill>
                <a:latin typeface="Libre Franklin"/>
                <a:ea typeface="Libre Franklin"/>
                <a:cs typeface="Libre Franklin"/>
                <a:sym typeface="Libre Franklin"/>
              </a:defRPr>
            </a:lvl5pPr>
            <a:lvl6pPr indent="0" lvl="5" marL="0" marR="0" rtl="0" algn="l">
              <a:spcBef>
                <a:spcPts val="0"/>
              </a:spcBef>
              <a:buNone/>
              <a:defRPr b="0" i="0" sz="800" u="none" cap="none" strike="noStrike">
                <a:solidFill>
                  <a:srgbClr val="FFFFFF"/>
                </a:solidFill>
                <a:latin typeface="Libre Franklin"/>
                <a:ea typeface="Libre Franklin"/>
                <a:cs typeface="Libre Franklin"/>
                <a:sym typeface="Libre Franklin"/>
              </a:defRPr>
            </a:lvl6pPr>
            <a:lvl7pPr indent="0" lvl="6" marL="0" marR="0" rtl="0" algn="l">
              <a:spcBef>
                <a:spcPts val="0"/>
              </a:spcBef>
              <a:buNone/>
              <a:defRPr b="0" i="0" sz="800" u="none" cap="none" strike="noStrike">
                <a:solidFill>
                  <a:srgbClr val="FFFFFF"/>
                </a:solidFill>
                <a:latin typeface="Libre Franklin"/>
                <a:ea typeface="Libre Franklin"/>
                <a:cs typeface="Libre Franklin"/>
                <a:sym typeface="Libre Franklin"/>
              </a:defRPr>
            </a:lvl7pPr>
            <a:lvl8pPr indent="0" lvl="7" marL="0" marR="0" rtl="0" algn="l">
              <a:spcBef>
                <a:spcPts val="0"/>
              </a:spcBef>
              <a:buNone/>
              <a:defRPr b="0" i="0" sz="800" u="none" cap="none" strike="noStrike">
                <a:solidFill>
                  <a:srgbClr val="FFFFFF"/>
                </a:solidFill>
                <a:latin typeface="Libre Franklin"/>
                <a:ea typeface="Libre Franklin"/>
                <a:cs typeface="Libre Franklin"/>
                <a:sym typeface="Libre Franklin"/>
              </a:defRPr>
            </a:lvl8pPr>
            <a:lvl9pPr indent="0" lvl="8" marL="0" marR="0" rtl="0" algn="l">
              <a:spcBef>
                <a:spcPts val="0"/>
              </a:spcBef>
              <a:buNone/>
              <a:defRPr b="0" i="0" sz="8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US"/>
              <a:t>‹#›</a:t>
            </a:fld>
            <a:endParaRPr/>
          </a:p>
        </p:txBody>
      </p:sp>
      <p:cxnSp>
        <p:nvCxnSpPr>
          <p:cNvPr id="12" name="Google Shape;12;p8"/>
          <p:cNvCxnSpPr/>
          <p:nvPr/>
        </p:nvCxnSpPr>
        <p:spPr>
          <a:xfrm>
            <a:off x="1193532" y="1897380"/>
            <a:ext cx="9966960" cy="0"/>
          </a:xfrm>
          <a:prstGeom prst="straightConnector1">
            <a:avLst/>
          </a:prstGeom>
          <a:noFill/>
          <a:ln cap="flat" cmpd="sng" w="12700">
            <a:solidFill>
              <a:srgbClr val="3F3F3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1"/>
          <p:cNvSpPr/>
          <p:nvPr/>
        </p:nvSpPr>
        <p:spPr>
          <a:xfrm>
            <a:off x="0" y="1"/>
            <a:ext cx="12192001" cy="6857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95" name="Google Shape;95;p1"/>
          <p:cNvSpPr txBox="1"/>
          <p:nvPr>
            <p:ph type="ctrTitle"/>
          </p:nvPr>
        </p:nvSpPr>
        <p:spPr>
          <a:xfrm>
            <a:off x="5289754" y="639097"/>
            <a:ext cx="6253317" cy="3686015"/>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262626"/>
              </a:buClr>
              <a:buSzPts val="6600"/>
              <a:buFont typeface="Bookman Old Style"/>
              <a:buNone/>
            </a:pPr>
            <a:r>
              <a:rPr lang="en-US" sz="6600"/>
              <a:t>Glow Up Marketing Campaign Performance</a:t>
            </a:r>
            <a:endParaRPr/>
          </a:p>
        </p:txBody>
      </p:sp>
      <p:sp>
        <p:nvSpPr>
          <p:cNvPr id="96" name="Google Shape;96;p1"/>
          <p:cNvSpPr txBox="1"/>
          <p:nvPr>
            <p:ph idx="1" type="subTitle"/>
          </p:nvPr>
        </p:nvSpPr>
        <p:spPr>
          <a:xfrm>
            <a:off x="5289753" y="4672738"/>
            <a:ext cx="6269347" cy="1217071"/>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400"/>
              <a:buNone/>
            </a:pPr>
            <a:r>
              <a:rPr lang="en-US"/>
              <a:t>COMPREHENSIVE DATA ANALYSIS &amp; INSIGHTS</a:t>
            </a:r>
            <a:endParaRPr/>
          </a:p>
          <a:p>
            <a:pPr indent="0" lvl="0" marL="0" rtl="0" algn="l">
              <a:lnSpc>
                <a:spcPct val="110000"/>
              </a:lnSpc>
              <a:spcBef>
                <a:spcPts val="1400"/>
              </a:spcBef>
              <a:spcAft>
                <a:spcPts val="0"/>
              </a:spcAft>
              <a:buSzPts val="2400"/>
              <a:buNone/>
            </a:pPr>
            <a:r>
              <a:t/>
            </a:r>
            <a:endParaRPr sz="2400">
              <a:solidFill>
                <a:srgbClr val="262626"/>
              </a:solidFill>
            </a:endParaRPr>
          </a:p>
        </p:txBody>
      </p:sp>
      <p:pic>
        <p:nvPicPr>
          <p:cNvPr descr="A picture containing building, sitting, bench, side&#10;&#10;Description automatically generated" id="97" name="Google Shape;97;p1"/>
          <p:cNvPicPr preferRelativeResize="0"/>
          <p:nvPr/>
        </p:nvPicPr>
        <p:blipFill rotWithShape="1">
          <a:blip r:embed="rId3">
            <a:alphaModFix/>
          </a:blip>
          <a:srcRect b="0" l="0" r="0" t="0"/>
          <a:stretch/>
        </p:blipFill>
        <p:spPr>
          <a:xfrm>
            <a:off x="-1" y="1"/>
            <a:ext cx="4635315" cy="6857999"/>
          </a:xfrm>
          <a:prstGeom prst="rect">
            <a:avLst/>
          </a:prstGeom>
          <a:noFill/>
          <a:ln>
            <a:noFill/>
          </a:ln>
        </p:spPr>
      </p:pic>
      <p:cxnSp>
        <p:nvCxnSpPr>
          <p:cNvPr id="98" name="Google Shape;98;p1"/>
          <p:cNvCxnSpPr/>
          <p:nvPr/>
        </p:nvCxnSpPr>
        <p:spPr>
          <a:xfrm>
            <a:off x="5427754" y="4498925"/>
            <a:ext cx="5636107" cy="0"/>
          </a:xfrm>
          <a:prstGeom prst="straightConnector1">
            <a:avLst/>
          </a:prstGeom>
          <a:noFill/>
          <a:ln cap="flat" cmpd="sng" w="12700">
            <a:solidFill>
              <a:srgbClr val="3F3F3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2"/>
          <p:cNvSpPr/>
          <p:nvPr/>
        </p:nvSpPr>
        <p:spPr>
          <a:xfrm>
            <a:off x="1507"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104" name="Google Shape;104;p2"/>
          <p:cNvSpPr txBox="1"/>
          <p:nvPr>
            <p:ph type="ctrTitle"/>
          </p:nvPr>
        </p:nvSpPr>
        <p:spPr>
          <a:xfrm>
            <a:off x="1097280" y="208429"/>
            <a:ext cx="10058400" cy="44426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2200"/>
              <a:buFont typeface="Bookman Old Style"/>
              <a:buNone/>
            </a:pPr>
            <a:r>
              <a:rPr b="1" lang="en-US" sz="2200"/>
              <a:t>Objective &amp; KPIs</a:t>
            </a:r>
            <a:br>
              <a:rPr lang="en-US" sz="2200"/>
            </a:br>
            <a:r>
              <a:rPr lang="en-US" sz="2200"/>
              <a:t>.Identify high ROI campaigns</a:t>
            </a:r>
            <a:br>
              <a:rPr lang="en-US" sz="2200"/>
            </a:br>
            <a:r>
              <a:rPr lang="en-US" sz="2200"/>
              <a:t>.Analyze conversions &amp; revenue</a:t>
            </a:r>
            <a:br>
              <a:rPr lang="en-US" sz="2200"/>
            </a:br>
            <a:r>
              <a:rPr lang="en-US" sz="2200"/>
              <a:t>.Recommend future budget allocation</a:t>
            </a:r>
            <a:br>
              <a:rPr lang="en-US" sz="2200"/>
            </a:br>
            <a:r>
              <a:rPr b="1" lang="en-US" sz="2200"/>
              <a:t>Key KPIs:</a:t>
            </a:r>
            <a:br>
              <a:rPr lang="en-US" sz="2200"/>
            </a:br>
            <a:r>
              <a:rPr lang="en-US" sz="2200"/>
              <a:t>.Campaign Spend</a:t>
            </a:r>
            <a:br>
              <a:rPr lang="en-US" sz="2200"/>
            </a:br>
            <a:r>
              <a:rPr lang="en-US" sz="2200"/>
              <a:t>.Leads Generated</a:t>
            </a:r>
            <a:br>
              <a:rPr lang="en-US" sz="2200"/>
            </a:br>
            <a:r>
              <a:rPr lang="en-US" sz="2200"/>
              <a:t>.Conversions</a:t>
            </a:r>
            <a:br>
              <a:rPr lang="en-US" sz="2200"/>
            </a:br>
            <a:r>
              <a:rPr lang="en-US" sz="2200"/>
              <a:t>.Revenue Generated</a:t>
            </a:r>
            <a:br>
              <a:rPr lang="en-US" sz="2200"/>
            </a:br>
            <a:r>
              <a:rPr lang="en-US" sz="2200"/>
              <a:t>.ROI (%) — (Revenue – Spend) / Spend × 100</a:t>
            </a:r>
            <a:br>
              <a:rPr lang="en-US" sz="2200"/>
            </a:br>
            <a:r>
              <a:rPr lang="en-US" sz="2000"/>
              <a:t>.</a:t>
            </a:r>
            <a:r>
              <a:rPr lang="en-US" sz="2200"/>
              <a:t>CPA— Cost per Acquisition = Spend ÷ Conversions Spend ÷ Conversions</a:t>
            </a:r>
            <a:br>
              <a:rPr lang="en-US" sz="4800"/>
            </a:br>
            <a:endParaRPr i="1" sz="4800">
              <a:solidFill>
                <a:srgbClr val="FFFFFF"/>
              </a:solidFill>
            </a:endParaRPr>
          </a:p>
        </p:txBody>
      </p:sp>
      <p:sp>
        <p:nvSpPr>
          <p:cNvPr id="105" name="Google Shape;105;p2"/>
          <p:cNvSpPr/>
          <p:nvPr/>
        </p:nvSpPr>
        <p:spPr>
          <a:xfrm>
            <a:off x="1507" y="4953000"/>
            <a:ext cx="12188952" cy="19050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txBox="1"/>
          <p:nvPr>
            <p:ph idx="1" type="subTitle"/>
          </p:nvPr>
        </p:nvSpPr>
        <p:spPr>
          <a:xfrm>
            <a:off x="1100051" y="5225240"/>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400"/>
              <a:buNone/>
            </a:pPr>
            <a:r>
              <a:rPr lang="en-US">
                <a:solidFill>
                  <a:schemeClr val="lt1"/>
                </a:solidFill>
              </a:rPr>
              <a:t>PREPARED BY:- DEEPAK YADAV</a:t>
            </a:r>
            <a:endParaRPr/>
          </a:p>
          <a:p>
            <a:pPr indent="0" lvl="0" marL="0" rtl="0" algn="l">
              <a:lnSpc>
                <a:spcPct val="110000"/>
              </a:lnSpc>
              <a:spcBef>
                <a:spcPts val="1400"/>
              </a:spcBef>
              <a:spcAft>
                <a:spcPts val="0"/>
              </a:spcAft>
              <a:buSzPts val="2400"/>
              <a:buNone/>
            </a:pPr>
            <a:r>
              <a:t/>
            </a:r>
            <a:endParaRPr>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1066800" y="716910"/>
            <a:ext cx="10058400" cy="581282"/>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3F3F3F"/>
              </a:buClr>
              <a:buSzPct val="100000"/>
              <a:buFont typeface="Bookman Old Style"/>
              <a:buNone/>
            </a:pPr>
            <a:r>
              <a:rPr lang="en-US"/>
              <a:t>ROI by Campaign</a:t>
            </a:r>
            <a:endParaRPr/>
          </a:p>
        </p:txBody>
      </p:sp>
      <p:graphicFrame>
        <p:nvGraphicFramePr>
          <p:cNvPr id="112" name="Google Shape;112;p3"/>
          <p:cNvGraphicFramePr/>
          <p:nvPr/>
        </p:nvGraphicFramePr>
        <p:xfrm>
          <a:off x="2514601" y="1669116"/>
          <a:ext cx="9123828" cy="3519768"/>
        </p:xfrm>
        <a:graphic>
          <a:graphicData uri="http://schemas.openxmlformats.org/drawingml/2006/chart">
            <c:chart r:id="rId3"/>
          </a:graphicData>
        </a:graphic>
      </p:graphicFrame>
      <p:sp>
        <p:nvSpPr>
          <p:cNvPr id="113" name="Google Shape;113;p3"/>
          <p:cNvSpPr txBox="1"/>
          <p:nvPr/>
        </p:nvSpPr>
        <p:spPr>
          <a:xfrm>
            <a:off x="490817" y="5342959"/>
            <a:ext cx="11497235"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Libre Franklin"/>
                <a:ea typeface="Libre Franklin"/>
                <a:cs typeface="Libre Franklin"/>
                <a:sym typeface="Libre Franklin"/>
              </a:rPr>
              <a:t>Campaign 14 delivered the highest ROI, outperforming all other campaigns by a significant margin.</a:t>
            </a:r>
            <a:br>
              <a:rPr b="0" i="0" lang="en-US" sz="1800" u="none" cap="none" strike="noStrike">
                <a:solidFill>
                  <a:schemeClr val="dk1"/>
                </a:solidFill>
                <a:latin typeface="Libre Franklin"/>
                <a:ea typeface="Libre Franklin"/>
                <a:cs typeface="Libre Franklin"/>
                <a:sym typeface="Libre Franklin"/>
              </a:rPr>
            </a:br>
            <a:r>
              <a:rPr b="0" i="0" lang="en-US" sz="1800" u="none" cap="none" strike="noStrike">
                <a:solidFill>
                  <a:schemeClr val="dk1"/>
                </a:solidFill>
                <a:latin typeface="Libre Franklin"/>
                <a:ea typeface="Libre Franklin"/>
                <a:cs typeface="Libre Franklin"/>
                <a:sym typeface="Libre Franklin"/>
              </a:rPr>
              <a:t>Campaigns 5, 3, 15, and 1 also showed exceptionally strong ROI, while the rest performed well but at comparatively lower efficiency.</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932330" y="811038"/>
            <a:ext cx="10058400" cy="13472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3200"/>
              <a:buFont typeface="Bookman Old Style"/>
              <a:buNone/>
            </a:pPr>
            <a:r>
              <a:rPr b="1" lang="en-US" sz="3200"/>
              <a:t>Conversions by Channel</a:t>
            </a:r>
            <a:br>
              <a:rPr b="1" lang="en-US"/>
            </a:br>
            <a:endParaRPr/>
          </a:p>
        </p:txBody>
      </p:sp>
      <p:graphicFrame>
        <p:nvGraphicFramePr>
          <p:cNvPr id="119" name="Google Shape;119;p4"/>
          <p:cNvGraphicFramePr/>
          <p:nvPr/>
        </p:nvGraphicFramePr>
        <p:xfrm>
          <a:off x="1066800" y="1913218"/>
          <a:ext cx="10058400" cy="3371476"/>
        </p:xfrm>
        <a:graphic>
          <a:graphicData uri="http://schemas.openxmlformats.org/drawingml/2006/chart">
            <c:chart r:id="rId3"/>
          </a:graphicData>
        </a:graphic>
      </p:graphicFrame>
      <p:sp>
        <p:nvSpPr>
          <p:cNvPr id="120" name="Google Shape;120;p4"/>
          <p:cNvSpPr txBox="1"/>
          <p:nvPr/>
        </p:nvSpPr>
        <p:spPr>
          <a:xfrm>
            <a:off x="705971" y="5617119"/>
            <a:ext cx="1092573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Social Media and Influencer channels delivered the highest conversions, making them the most effective campaign platforms.</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txBox="1"/>
          <p:nvPr>
            <p:ph type="title"/>
          </p:nvPr>
        </p:nvSpPr>
        <p:spPr>
          <a:xfrm>
            <a:off x="875404" y="753035"/>
            <a:ext cx="10058400" cy="80951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000"/>
              <a:buFont typeface="Bookman Old Style"/>
              <a:buNone/>
            </a:pPr>
            <a:r>
              <a:rPr lang="en-US" sz="4000"/>
              <a:t>Spend vs Revenue by Campaign</a:t>
            </a:r>
            <a:endParaRPr sz="4000"/>
          </a:p>
        </p:txBody>
      </p:sp>
      <p:graphicFrame>
        <p:nvGraphicFramePr>
          <p:cNvPr id="126" name="Google Shape;126;p5"/>
          <p:cNvGraphicFramePr/>
          <p:nvPr/>
        </p:nvGraphicFramePr>
        <p:xfrm>
          <a:off x="1066800" y="1745130"/>
          <a:ext cx="10058400" cy="3760788"/>
        </p:xfrm>
        <a:graphic>
          <a:graphicData uri="http://schemas.openxmlformats.org/drawingml/2006/chart">
            <c:chart r:id="rId3"/>
          </a:graphicData>
        </a:graphic>
      </p:graphicFrame>
      <p:sp>
        <p:nvSpPr>
          <p:cNvPr id="127" name="Google Shape;127;p5"/>
          <p:cNvSpPr txBox="1"/>
          <p:nvPr/>
        </p:nvSpPr>
        <p:spPr>
          <a:xfrm>
            <a:off x="273424" y="5398341"/>
            <a:ext cx="11537576"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 Campaign 8, 1, and 5 performed the best, generating the highest revenue compared to their spend, showing excellent ROI. Campaigns 6,7,9,11,and12 generated positive returns but at a comparatively lower efficiency than the top campaigns.</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ph type="title"/>
          </p:nvPr>
        </p:nvSpPr>
        <p:spPr>
          <a:xfrm>
            <a:off x="1048867" y="655008"/>
            <a:ext cx="10058400" cy="7485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Leads vs Conversions</a:t>
            </a:r>
            <a:endParaRPr/>
          </a:p>
        </p:txBody>
      </p:sp>
      <p:graphicFrame>
        <p:nvGraphicFramePr>
          <p:cNvPr id="133" name="Google Shape;133;p6"/>
          <p:cNvGraphicFramePr/>
          <p:nvPr/>
        </p:nvGraphicFramePr>
        <p:xfrm>
          <a:off x="872156" y="1942884"/>
          <a:ext cx="10058400" cy="3760800"/>
        </p:xfrm>
        <a:graphic>
          <a:graphicData uri="http://schemas.openxmlformats.org/drawingml/2006/chart">
            <c:chart r:id="rId3"/>
          </a:graphicData>
        </a:graphic>
      </p:graphicFrame>
      <p:sp>
        <p:nvSpPr>
          <p:cNvPr id="134" name="Google Shape;134;p6"/>
          <p:cNvSpPr txBox="1"/>
          <p:nvPr/>
        </p:nvSpPr>
        <p:spPr>
          <a:xfrm>
            <a:off x="168087" y="5499847"/>
            <a:ext cx="1181996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Campaigns 8, 2, 1, and 5 achieved strong performance with high leads converting into high conversions, showing an effective marketing  funnel. Campaigns 6, 4, and 12 generated relatively fewer conversions compared to their lead volume, indicating room for improvement in targeting or follow-up strategy.</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1097280" y="988908"/>
            <a:ext cx="10058400" cy="74845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700"/>
              <a:buFont typeface="Bookman Old Style"/>
              <a:buNone/>
            </a:pPr>
            <a:r>
              <a:rPr lang="en-US"/>
              <a:t>Recommendations</a:t>
            </a:r>
            <a:endParaRPr/>
          </a:p>
        </p:txBody>
      </p:sp>
      <p:sp>
        <p:nvSpPr>
          <p:cNvPr id="140" name="Google Shape;140;p7"/>
          <p:cNvSpPr txBox="1"/>
          <p:nvPr>
            <p:ph idx="1" type="body"/>
          </p:nvPr>
        </p:nvSpPr>
        <p:spPr>
          <a:xfrm>
            <a:off x="1016597" y="2120430"/>
            <a:ext cx="9741769" cy="147732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None/>
            </a:pPr>
            <a:r>
              <a:rPr b="1" i="0" lang="en-US" sz="1800" u="none" cap="none" strike="noStrike">
                <a:solidFill>
                  <a:schemeClr val="dk1"/>
                </a:solidFill>
                <a:latin typeface="Arial"/>
                <a:ea typeface="Arial"/>
                <a:cs typeface="Arial"/>
                <a:sym typeface="Arial"/>
              </a:rPr>
              <a:t>.Increase budget</a:t>
            </a:r>
            <a:r>
              <a:rPr b="0" i="0" lang="en-US" sz="1800" u="none" cap="none" strike="noStrike">
                <a:solidFill>
                  <a:schemeClr val="dk1"/>
                </a:solidFill>
                <a:latin typeface="Arial"/>
                <a:ea typeface="Arial"/>
                <a:cs typeface="Arial"/>
                <a:sym typeface="Arial"/>
              </a:rPr>
              <a:t> for top-performing campaigns (14, 5, 3, 1, 8) due to exceptionally high ROI.</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Prioritize Social Media &amp; Influencer channels</a:t>
            </a:r>
            <a:r>
              <a:rPr b="0" i="0" lang="en-US" sz="1800" u="none" cap="none" strike="noStrike">
                <a:solidFill>
                  <a:schemeClr val="dk1"/>
                </a:solidFill>
                <a:latin typeface="Arial"/>
                <a:ea typeface="Arial"/>
                <a:cs typeface="Arial"/>
                <a:sym typeface="Arial"/>
              </a:rPr>
              <a:t> as they delivered the strongest conversions.</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Improve Email &amp; Events campaigns</a:t>
            </a:r>
            <a:r>
              <a:rPr b="0" i="0" lang="en-US" sz="1800" u="none" cap="none" strike="noStrike">
                <a:solidFill>
                  <a:schemeClr val="dk1"/>
                </a:solidFill>
                <a:latin typeface="Arial"/>
                <a:ea typeface="Arial"/>
                <a:cs typeface="Arial"/>
                <a:sym typeface="Arial"/>
              </a:rPr>
              <a:t> with better targeting, creatives, and follow-ups.</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Optimize low-conversion campaigns</a:t>
            </a:r>
            <a:r>
              <a:rPr b="0" i="0" lang="en-US" sz="1800" u="none" cap="none" strike="noStrike">
                <a:solidFill>
                  <a:schemeClr val="dk1"/>
                </a:solidFill>
                <a:latin typeface="Arial"/>
                <a:ea typeface="Arial"/>
                <a:cs typeface="Arial"/>
                <a:sym typeface="Arial"/>
              </a:rPr>
              <a:t> like 6, 4, and 12 through stronger lead nurturing.</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Use performance-based budget allocation</a:t>
            </a:r>
            <a:r>
              <a:rPr b="0" i="0" lang="en-US" sz="1800" u="none" cap="none" strike="noStrike">
                <a:solidFill>
                  <a:schemeClr val="dk1"/>
                </a:solidFill>
                <a:latin typeface="Arial"/>
                <a:ea typeface="Arial"/>
                <a:cs typeface="Arial"/>
                <a:sym typeface="Arial"/>
              </a:rPr>
              <a:t> to maximize overall ROI next quarter.</a:t>
            </a:r>
            <a:endParaRPr/>
          </a:p>
        </p:txBody>
      </p:sp>
      <p:sp>
        <p:nvSpPr>
          <p:cNvPr id="141" name="Google Shape;141;p7"/>
          <p:cNvSpPr txBox="1"/>
          <p:nvPr/>
        </p:nvSpPr>
        <p:spPr>
          <a:xfrm>
            <a:off x="867335" y="4424082"/>
            <a:ext cx="909021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Next quarter, focus on scaling winning channels while continuously A/B testing underperforming ones.</a:t>
            </a:r>
            <a:br>
              <a:rPr lang="en-US" sz="1800">
                <a:solidFill>
                  <a:schemeClr val="dk1"/>
                </a:solidFill>
                <a:latin typeface="Libre Franklin"/>
                <a:ea typeface="Libre Franklin"/>
                <a:cs typeface="Libre Franklin"/>
                <a:sym typeface="Libre Franklin"/>
              </a:rPr>
            </a:br>
            <a:r>
              <a:rPr lang="en-US" sz="1800">
                <a:solidFill>
                  <a:schemeClr val="dk1"/>
                </a:solidFill>
                <a:latin typeface="Libre Franklin"/>
                <a:ea typeface="Libre Franklin"/>
                <a:cs typeface="Libre Franklin"/>
                <a:sym typeface="Libre Franklin"/>
              </a:rPr>
              <a:t>Build a data-driven marketing plan by tracking ROI monthly and reallocating budget dynamically.</a:t>
            </a:r>
            <a:endParaRPr sz="1800">
              <a:solidFill>
                <a:schemeClr val="dk1"/>
              </a:solidFill>
              <a:latin typeface="Libre Franklin"/>
              <a:ea typeface="Libre Franklin"/>
              <a:cs typeface="Libre Franklin"/>
              <a:sym typeface="Libre Franklin"/>
            </a:endParaRPr>
          </a:p>
        </p:txBody>
      </p:sp>
      <p:sp>
        <p:nvSpPr>
          <p:cNvPr id="142" name="Google Shape;142;p7"/>
          <p:cNvSpPr txBox="1"/>
          <p:nvPr/>
        </p:nvSpPr>
        <p:spPr>
          <a:xfrm>
            <a:off x="867335" y="4108642"/>
            <a:ext cx="24204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Libre Franklin"/>
                <a:ea typeface="Libre Franklin"/>
                <a:cs typeface="Libre Franklin"/>
                <a:sym typeface="Libre Franklin"/>
              </a:rPr>
              <a:t>Future Strategy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2025-11-11T13:16:14Z</dcterms:created>
  <dc:creator>RAM PAIN RELIEF PHYSIOTHERAPY CLINIC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